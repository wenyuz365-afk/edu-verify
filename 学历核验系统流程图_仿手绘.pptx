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</a:defRPr>
            </a:pPr>
            <a:r>
              <a:t>学历信息 AI 核验系统 -- 完整业务流程图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502920"/>
            <a:ext cx="2286000" cy="502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上传学位证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502920"/>
            <a:ext cx="2286000" cy="502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上传毕业证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502920"/>
            <a:ext cx="2286000" cy="502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上传简历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1005840"/>
            <a:ext cx="0" cy="36576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715000" y="1005840"/>
            <a:ext cx="0" cy="36576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658600" y="1005840"/>
            <a:ext cx="0" cy="68580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71600" y="914400"/>
            <a:ext cx="4572000" cy="594360"/>
          </a:xfrm>
          <a:prstGeom prst="roundRect">
            <a:avLst/>
          </a:prstGeom>
          <a:solidFill>
            <a:srgbClr val="0E3A5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PaddleOCR 图片文字识别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去印章 | 自适应缩放 | CLAHE增强 | 双通道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1508760"/>
            <a:ext cx="0" cy="45720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1645920"/>
            <a:ext cx="4572000" cy="594360"/>
          </a:xfrm>
          <a:prstGeom prst="roundRect">
            <a:avLst/>
          </a:prstGeom>
          <a:solidFill>
            <a:srgbClr val="0E3A5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DeepSeek V4 Pro 字段提取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姓名/学校/专业/学历层次/毕业日期/证书编号/学习形式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914400"/>
            <a:ext cx="4114800" cy="502920"/>
          </a:xfrm>
          <a:prstGeom prst="roundRect">
            <a:avLst/>
          </a:prstGeom>
          <a:solidFill>
            <a:srgbClr val="0E3A5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简历OCR识别 + LLM提取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多段教育经历: 学校/专业/学历/起止年份/状态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658600" y="1417320"/>
            <a:ext cx="0" cy="22860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2240280"/>
            <a:ext cx="0" cy="36576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71600" y="2880360"/>
            <a:ext cx="10058400" cy="457200"/>
          </a:xfrm>
          <a:prstGeom prst="roundRect">
            <a:avLst/>
          </a:prstGeom>
          <a:solidFill>
            <a:srgbClr val="1A3A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结构化字段输出: 姓名 | 性别 | 出生日期 | 学校 | 专业 | 学历层次 | 学位 | 毕业日期 | 证书编号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3337560"/>
            <a:ext cx="0" cy="36576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</a:defRPr>
            </a:pPr>
            <a:r>
              <a:t>核验引擎:</a:t>
            </a:r>
          </a:p>
        </p:txBody>
      </p:sp>
      <p:sp>
        <p:nvSpPr>
          <p:cNvPr id="21" name="Diamond 20"/>
          <p:cNvSpPr/>
          <p:nvPr/>
        </p:nvSpPr>
        <p:spPr>
          <a:xfrm>
            <a:off x="2011680" y="3794760"/>
            <a:ext cx="1463040" cy="914400"/>
          </a:xfrm>
          <a:prstGeom prst="diamond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EF4444"/>
                </a:solidFill>
              </a:defRPr>
            </a:pPr>
            <a:r>
              <a:t>教育部名单</a:t>
            </a:r>
            <a:br/>
            <a:r>
              <a:t>院校真实性</a:t>
            </a:r>
            <a:br/>
            <a:r>
              <a:t>(学校是否在名单中)</a:t>
            </a:r>
          </a:p>
        </p:txBody>
      </p:sp>
      <p:sp>
        <p:nvSpPr>
          <p:cNvPr id="22" name="Diamond 21"/>
          <p:cNvSpPr/>
          <p:nvPr/>
        </p:nvSpPr>
        <p:spPr>
          <a:xfrm>
            <a:off x="3611880" y="3794760"/>
            <a:ext cx="1463040" cy="914400"/>
          </a:xfrm>
          <a:prstGeom prst="diamond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EF4444"/>
                </a:solidFill>
              </a:defRPr>
            </a:pPr>
            <a:r>
              <a:t>学信库查询</a:t>
            </a:r>
            <a:br/>
            <a:r>
              <a:t>学籍信息比对</a:t>
            </a:r>
            <a:br/>
            <a:r>
              <a:t>(查该学生记录)</a:t>
            </a:r>
          </a:p>
        </p:txBody>
      </p:sp>
      <p:sp>
        <p:nvSpPr>
          <p:cNvPr id="23" name="Diamond 22"/>
          <p:cNvSpPr/>
          <p:nvPr/>
        </p:nvSpPr>
        <p:spPr>
          <a:xfrm>
            <a:off x="5212080" y="3794760"/>
            <a:ext cx="1463040" cy="914400"/>
          </a:xfrm>
          <a:prstGeom prst="diamond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同编号重复</a:t>
            </a:r>
            <a:br/>
            <a:r>
              <a:t>检测</a:t>
            </a:r>
          </a:p>
        </p:txBody>
      </p:sp>
      <p:sp>
        <p:nvSpPr>
          <p:cNvPr id="24" name="Diamond 23"/>
          <p:cNvSpPr/>
          <p:nvPr/>
        </p:nvSpPr>
        <p:spPr>
          <a:xfrm>
            <a:off x="6812280" y="3794760"/>
            <a:ext cx="1463040" cy="914400"/>
          </a:xfrm>
          <a:prstGeom prst="diamond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毕业年龄</a:t>
            </a:r>
            <a:br/>
            <a:r>
              <a:t>异常检测</a:t>
            </a:r>
          </a:p>
        </p:txBody>
      </p:sp>
      <p:sp>
        <p:nvSpPr>
          <p:cNvPr id="25" name="Diamond 24"/>
          <p:cNvSpPr/>
          <p:nvPr/>
        </p:nvSpPr>
        <p:spPr>
          <a:xfrm>
            <a:off x="8412480" y="3794760"/>
            <a:ext cx="1463040" cy="914400"/>
          </a:xfrm>
          <a:prstGeom prst="diamond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院校-专业</a:t>
            </a:r>
            <a:br/>
            <a:r>
              <a:t>一致性</a:t>
            </a:r>
          </a:p>
        </p:txBody>
      </p:sp>
      <p:sp>
        <p:nvSpPr>
          <p:cNvPr id="26" name="Diamond 25"/>
          <p:cNvSpPr/>
          <p:nvPr/>
        </p:nvSpPr>
        <p:spPr>
          <a:xfrm>
            <a:off x="10012680" y="3794760"/>
            <a:ext cx="1463040" cy="914400"/>
          </a:xfrm>
          <a:prstGeom prst="diamond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EF4444"/>
                </a:solidFill>
              </a:defRPr>
            </a:pPr>
            <a:r>
              <a:t>ELA图片</a:t>
            </a:r>
            <a:br/>
            <a:r>
              <a:t>篡改检测</a:t>
            </a:r>
          </a:p>
        </p:txBody>
      </p:sp>
      <p:sp>
        <p:nvSpPr>
          <p:cNvPr id="27" name="Diamond 26"/>
          <p:cNvSpPr/>
          <p:nvPr/>
        </p:nvSpPr>
        <p:spPr>
          <a:xfrm>
            <a:off x="11612880" y="3794760"/>
            <a:ext cx="1463040" cy="914400"/>
          </a:xfrm>
          <a:prstGeom prst="diamond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EF4444"/>
                </a:solidFill>
              </a:defRPr>
            </a:pPr>
            <a:r>
              <a:t>黑名单</a:t>
            </a:r>
            <a:br/>
            <a:r>
              <a:t>筛查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4937760"/>
            <a:ext cx="457200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双证交叉比对</a:t>
            </a:r>
            <a:br/>
            <a:r>
              <a:t>学位证 vs 毕业证: 姓名/学校/专业/学历/日期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937760"/>
            <a:ext cx="502920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简历交叉验证</a:t>
            </a:r>
            <a:br/>
            <a:r>
              <a:t>按学历层级逐段比对(学校+专业包含匹配+年份严格)</a:t>
            </a:r>
          </a:p>
        </p:txBody>
      </p:sp>
      <p:sp>
        <p:nvSpPr>
          <p:cNvPr id="36" name="Diamond 35"/>
          <p:cNvSpPr/>
          <p:nvPr/>
        </p:nvSpPr>
        <p:spPr>
          <a:xfrm>
            <a:off x="2743200" y="5943600"/>
            <a:ext cx="2286000" cy="1097280"/>
          </a:xfrm>
          <a:prstGeom prst="diamond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系统综合判定</a:t>
            </a:r>
            <a:br/>
            <a:r>
              <a:t>PASS / REVIEW / ALERT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00400" y="5577840"/>
            <a:ext cx="0" cy="36576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" y="7269480"/>
            <a:ext cx="3200400" cy="640080"/>
          </a:xfrm>
          <a:prstGeom prst="roundRect">
            <a:avLst/>
          </a:prstGeom>
          <a:solidFill>
            <a:srgbClr val="144E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PASS 通过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7955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全部检查无异常 -&gt; 自动进入通过名单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7269480"/>
            <a:ext cx="3200400" cy="640080"/>
          </a:xfrm>
          <a:prstGeom prst="roundRect">
            <a:avLst/>
          </a:prstGeom>
          <a:solidFill>
            <a:srgbClr val="5C3A0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REVIEW 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7955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</a:defRPr>
            </a:pPr>
            <a:r>
              <a:t>有可疑项 -&gt; 进入人工核验台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7269480"/>
            <a:ext cx="3200400" cy="640080"/>
          </a:xfrm>
          <a:prstGeom prst="roundRect">
            <a:avLst/>
          </a:prstGeom>
          <a:solidFill>
            <a:srgbClr val="5C141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ALERT 异常预警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7955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</a:defRPr>
            </a:pPr>
            <a:r>
              <a:t>严重异常 -&gt; 进入人工核验台，优先处理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71600" y="7040880"/>
            <a:ext cx="0" cy="22860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72000" y="7040880"/>
            <a:ext cx="0" cy="22860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29600" y="7040880"/>
            <a:ext cx="0" cy="22860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51560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人工核验台 (HR判定)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15600" y="3703320"/>
            <a:ext cx="36576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0" y="3794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HR查看原始证书图片</a:t>
            </a:r>
            <a:br/>
            <a:r>
              <a:t>及系统判定原因</a:t>
            </a:r>
            <a:br/>
            <a:r>
              <a:t>做出最终决定: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789920" y="4617720"/>
            <a:ext cx="3017520" cy="502920"/>
          </a:xfrm>
          <a:prstGeom prst="roundRect">
            <a:avLst/>
          </a:prstGeom>
          <a:solidFill>
            <a:srgbClr val="22C55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PASS 通过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89920" y="5212080"/>
            <a:ext cx="3017520" cy="502920"/>
          </a:xfrm>
          <a:prstGeom prst="roundRect">
            <a:avLst/>
          </a:prstGeom>
          <a:solidFill>
            <a:srgbClr val="EF444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FAIL 淘汰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89920" y="5806440"/>
            <a:ext cx="3017520" cy="411480"/>
          </a:xfrm>
          <a:prstGeom prst="round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HOLD 待补充材料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71600" y="8229600"/>
            <a:ext cx="8686800" cy="457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数据看板: 全部 | 通过 | 不通过 | 待定 | 待核验  |  内联修改状态  |  CSV导出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94A3B8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