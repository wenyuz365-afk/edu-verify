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</a:defRPr>
            </a:pPr>
            <a:r>
              <a:t>学历信息AI核验系统 -- 完整流程图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777240"/>
            <a:ext cx="1280160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上传层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28016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</a:defRPr>
            </a:pPr>
            <a:r>
              <a:t>1. 选择招聘渠道: [校招] 有证验真伪，无证待取证 | [社招] 所有学历必须有证 | [实习] 已毕业缺证=ALERT，在读跳过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</a:defRPr>
            </a:pPr>
            <a:r>
              <a:t>2. 选择上传模式: [单人] 动态添加学历层级(本/硕/博)，每层级2证(学位+毕业) | [批量] ZIP压缩包，子文件夹=候选人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</a:defRPr>
            </a:pPr>
            <a:r>
              <a:t>3. 上传文件: 学位证 + 毕业证(可选:同等学力/海外可不传) + 简历(必传)</a:t>
            </a:r>
          </a:p>
        </p:txBody>
      </p:sp>
      <p:sp>
        <p:nvSpPr>
          <p:cNvPr id="8" name="Down Arrow 7"/>
          <p:cNvSpPr/>
          <p:nvPr/>
        </p:nvSpPr>
        <p:spPr>
          <a:xfrm>
            <a:off x="7223760" y="2697480"/>
            <a:ext cx="18288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971800"/>
            <a:ext cx="128016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识别层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66160"/>
            <a:ext cx="6126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PaddleOCR 2.6.2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红色印章去除(HSV) -&gt; 自适应缩放(2000px) -&gt; CLAHE增强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双通道OCR(去印章+原图) -&gt; 输出: 证书/简历全文文本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566160"/>
            <a:ext cx="6126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65760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DeepSeek V4 Pro (LLM)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9319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证书提取: 姓名/性别/出生日期/学校/专业/学历/学位/日期/编号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2062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简历提取: [{学校,专业,学历,起止年份,status(ongoing/graduated/...)}]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223760" y="4617720"/>
            <a:ext cx="18288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892040"/>
            <a:ext cx="12801600" cy="502920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核验层: 模块A -- 单证单项核验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86400"/>
            <a:ext cx="39319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59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教育部名单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5559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</a:defRPr>
            </a:pPr>
            <a:r>
              <a:t>不在名单 -&gt; ALERT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5486400"/>
            <a:ext cx="39319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5559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学信库查询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5559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未查到 -&gt; ALERT | 不一致 -&gt;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5486400"/>
            <a:ext cx="39319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5559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毕业年龄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0" y="5559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异常 -&gt; 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989320"/>
            <a:ext cx="39319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062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证书状态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6062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结业/肄业 -&gt; 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5989320"/>
            <a:ext cx="39319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6062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院校-专业一致性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6062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不匹配 -&gt;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5989320"/>
            <a:ext cx="39319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6062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ELA图片篡改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0" y="6062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</a:defRPr>
            </a:pPr>
            <a:r>
              <a:t>low=PASS | medium=REVIEW | high=ALERT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6537960"/>
            <a:ext cx="12801600" cy="502920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核验层: 模块B -- 多材料交叉验证 (同页面下半部分)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7132320"/>
            <a:ext cx="39319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7205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双证交叉比对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7205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学位vs毕业: 姓名/学校/专业/学历/日期 -&gt;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7132320"/>
            <a:ext cx="39319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7205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简历分层交叉验证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7205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ongoing/dropout/exchange/minor=跳过 | 缺证: 社招/实习=ALERT 校招=REVIEW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0" y="7132320"/>
            <a:ext cx="39319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7205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综合判定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0" y="7205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</a:defRPr>
            </a:pPr>
            <a:r>
              <a:t>有ALERT-&gt;ALERT | 有REVIEW-&gt;REVIEW | 全过-&gt;PASS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</a:defRPr>
            </a:pPr>
            <a:r>
              <a:t>判定分流层 + 数据看板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777240"/>
            <a:ext cx="12801600" cy="50292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判定分流层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61264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PASS -- 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自动进入通过名单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无需人工介入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条件: 教育部名单通过 + 学信库查到且一致 + ELA无异常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    + 双证比对一致 + 简历交叉无冲突 + 招聘类型要求满足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61264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63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ALERT / REVIEW -- 需人工核验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202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进入人工核验台 -&gt; 待核验栏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860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HR展开候选人 -&gt; 查看原始证书图片 + 未通过原因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517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</a:defRPr>
            </a:pPr>
            <a:r>
              <a:t>HR三选一判定: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260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</a:defRPr>
            </a:pPr>
            <a:r>
              <a:t>  [PASS 通过]    [FAIL 淘汰]    [HOLD 待补充材料]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977639" y="3703320"/>
            <a:ext cx="18288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652760" y="3703320"/>
            <a:ext cx="18288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977639"/>
            <a:ext cx="1280160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数据看板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12801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全部候选人 | 通过 | 不通过 | 待定 | 待核验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内联下拉框: 直接在表格中修改候选人状态 -&gt; 自动归类到对应分组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9496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CSV导出 | 待核验/已核验两栏分离 | 已判定可重新修改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6692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数据来源: 588所国内本科 + 191所海外认证高校 | 学信库独立维护 | 院校曾用名自动解析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492240"/>
            <a:ext cx="128016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600" b="1">
                <a:solidFill>
                  <a:srgbClr val="F1F5F9"/>
                </a:solidFill>
              </a:defRPr>
            </a:pPr>
            <a:r>
              <a:t>招聘类型判定差异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7086600"/>
            <a:ext cx="128016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7178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校招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74523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已毕业有证=正常核验 | 缺证=REVIEW待取证 | 在读=跳过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7178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社招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74523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已毕业有证=正常核验 | 缺证=ALERT不通过 | 在读=不存在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7178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实习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74523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已毕业有证=正常核验 | 缺证=ALERT不通过 | 在读=跳过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