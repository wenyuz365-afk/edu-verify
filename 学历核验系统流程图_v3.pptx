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73152"/>
            <a:ext cx="1463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1F5F9"/>
                </a:solidFill>
              </a:defRPr>
            </a:pPr>
            <a:r>
              <a:t>学历信息 AI 核验系统 -- 操作流程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57200"/>
            <a:ext cx="1463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面向HR用户 | 三步完成证书真伪核验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914400"/>
            <a:ext cx="12801600" cy="594360"/>
          </a:xfrm>
          <a:prstGeom prst="roundRect">
            <a:avLst/>
          </a:prstGeom>
          <a:solidFill>
            <a:srgbClr val="3B82F6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1F5F9"/>
                </a:solidFill>
              </a:defRPr>
            </a:pPr>
            <a:r>
              <a:t>    第一步: 选择招聘场景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12801600" cy="914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719072"/>
            <a:ext cx="1188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1F5F9"/>
                </a:solidFill>
              </a:defRPr>
            </a:pPr>
            <a:r>
              <a:t>根据招聘类型，系统自动切换核验规则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103120"/>
            <a:ext cx="2011680" cy="365760"/>
          </a:xfrm>
          <a:prstGeom prst="roundRect">
            <a:avLst/>
          </a:prstGeom>
          <a:solidFill>
            <a:srgbClr val="06B6D4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1F5F9"/>
                </a:solidFill>
              </a:defRPr>
            </a:pPr>
            <a:r>
              <a:t>校  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2103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应届毕业生</a:t>
            </a:r>
            <a:br/>
            <a:r>
              <a:t>有证验真伪，无证标「待取证」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0" y="2103120"/>
            <a:ext cx="2011680" cy="365760"/>
          </a:xfrm>
          <a:prstGeom prst="roundRect">
            <a:avLst/>
          </a:prstGeom>
          <a:solidFill>
            <a:srgbClr val="3B82F6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1F5F9"/>
                </a:solidFill>
              </a:defRPr>
            </a:pPr>
            <a:r>
              <a:t>社  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103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已毕业候选人</a:t>
            </a:r>
            <a:br/>
            <a:r>
              <a:t>所有学历必须有证书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35440" y="2103120"/>
            <a:ext cx="2011680" cy="365760"/>
          </a:xfrm>
          <a:prstGeom prst="roundRect">
            <a:avLst/>
          </a:prstGeom>
          <a:solidFill>
            <a:srgbClr val="EC4899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1F5F9"/>
                </a:solidFill>
              </a:defRPr>
            </a:pPr>
            <a:r>
              <a:t>实  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1440" y="21031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在读学生</a:t>
            </a:r>
            <a:br/>
            <a:r>
              <a:t>已毕业学历必验证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7223760" y="2606040"/>
            <a:ext cx="201168" cy="274320"/>
          </a:xfrm>
          <a:prstGeom prst="down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14400" y="2788920"/>
            <a:ext cx="12801600" cy="594360"/>
          </a:xfrm>
          <a:prstGeom prst="roundRect">
            <a:avLst/>
          </a:prstGeom>
          <a:solidFill>
            <a:srgbClr val="3B82F6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1F5F9"/>
                </a:solidFill>
              </a:defRPr>
            </a:pPr>
            <a:r>
              <a:t>    第二步: 上传材料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520440"/>
            <a:ext cx="12801600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3566160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1F5F9"/>
                </a:solidFill>
              </a:defRPr>
            </a:pPr>
            <a:r>
              <a:t>上传模式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0" y="3931920"/>
            <a:ext cx="2011680" cy="365760"/>
          </a:xfrm>
          <a:prstGeom prst="roundRect">
            <a:avLst/>
          </a:prstGeom>
          <a:solidFill>
            <a:srgbClr val="06B6D4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1F5F9"/>
                </a:solidFill>
              </a:defRPr>
            </a:pPr>
            <a:r>
              <a:t>单人上传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393192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动态添加学历层级(本科/硕士/博士)，每层级上传学位证+毕业证(毕业证可选)  |  简历为必传项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1600" y="4389120"/>
            <a:ext cx="2011680" cy="365760"/>
          </a:xfrm>
          <a:prstGeom prst="roundRect">
            <a:avLst/>
          </a:prstGeom>
          <a:solidFill>
            <a:srgbClr val="06B6D4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1F5F9"/>
                </a:solidFill>
              </a:defRPr>
            </a:pPr>
            <a:r>
              <a:t>批量上传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438912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上传ZIP压缩包，每个子文件夹对应一位候选人，系统自动按文件名关键词分类学历层次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4892040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支持文件格式: JPG / PNG / PDF   |   PDF自动转换为图片   |   证书原件自动存档供人工核验查看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7223760" y="5394959"/>
            <a:ext cx="201168" cy="274320"/>
          </a:xfrm>
          <a:prstGeom prst="down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14400" y="5577840"/>
            <a:ext cx="12801600" cy="594360"/>
          </a:xfrm>
          <a:prstGeom prst="roundRect">
            <a:avLst/>
          </a:prstGeom>
          <a:solidFill>
            <a:srgbClr val="3B82F6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1F5F9"/>
                </a:solidFill>
              </a:defRPr>
            </a:pPr>
            <a:r>
              <a:t>    第三步: 开始核验 (系统自动完成)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6309360"/>
            <a:ext cx="12801600" cy="1188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188720" y="6400800"/>
            <a:ext cx="5943600" cy="1005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71600" y="64465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</a:defRPr>
            </a:pPr>
            <a:r>
              <a:t>OCR 文字识别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672084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PaddleOCR 2.6.2 本地引擎</a:t>
            </a:r>
            <a:br/>
            <a:r>
              <a:t>自动去除红色印章干扰 -&gt; 自适应缩放清晰度增强 -&gt; 输出全文文本</a:t>
            </a:r>
            <a:br/>
            <a:r>
              <a:t>证书和简历的图片文字全部提取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79" y="6400800"/>
            <a:ext cx="5943600" cy="1005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0" y="64465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</a:defRPr>
            </a:pPr>
            <a:r>
              <a:t>AI 字段提取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0" y="672084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DeepSeek V4 Pro 大语言模型</a:t>
            </a:r>
            <a:br/>
            <a:r>
              <a:t>理解证书文字 -&gt; 提取: 姓名/学校/专业/学历/日期/编号等</a:t>
            </a:r>
            <a:br/>
            <a:r>
              <a:t>理解简历文字 -&gt; 提取: 多段教育经历 + 在读/毕业状态</a:t>
            </a:r>
          </a:p>
        </p:txBody>
      </p:sp>
      <p:sp>
        <p:nvSpPr>
          <p:cNvPr id="31" name="Down Arrow 30"/>
          <p:cNvSpPr/>
          <p:nvPr/>
        </p:nvSpPr>
        <p:spPr>
          <a:xfrm>
            <a:off x="7223760" y="7543800"/>
            <a:ext cx="201168" cy="274320"/>
          </a:xfrm>
          <a:prstGeom prst="down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7863840"/>
            <a:ext cx="1280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核验结果展示在三步流的结果页: 总览表 + 逐层详情 + 简历交叉验证   |   核验下一个候选人 一键返回上传页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73152"/>
            <a:ext cx="1463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1F5F9"/>
                </a:solidFill>
              </a:defRPr>
            </a:pPr>
            <a:r>
              <a:t>学历信息 AI 核验系统 -- 核验引擎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57200"/>
            <a:ext cx="1463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系统自动完成的全部检查项 | 单证核验 + 交叉验证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914400"/>
            <a:ext cx="12801600" cy="594360"/>
          </a:xfrm>
          <a:prstGeom prst="roundRect">
            <a:avLst/>
          </a:prstGeom>
          <a:solidFill>
            <a:srgbClr val="A855F7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1F5F9"/>
                </a:solidFill>
              </a:defRPr>
            </a:pPr>
            <a:r>
              <a:t>    模块A: 单证单项核验 (每份证书独立进行)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3840480" cy="7315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>
              <a:defRPr sz="1100" b="1">
                <a:solidFill>
                  <a:srgbClr val="EF4444"/>
                </a:solidFill>
              </a:defRPr>
            </a:pPr>
            <a:r>
              <a:t>教育部名单校验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学校是否在583所国内本科+191所海外认证名单中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0" y="1645920"/>
            <a:ext cx="3840480" cy="7315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>
              <a:defRPr sz="1100" b="1">
                <a:solidFill>
                  <a:srgbClr val="EF4444"/>
                </a:solidFill>
              </a:defRPr>
            </a:pPr>
            <a:r>
              <a:t>学信库查询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按身份证号/证书编号/姓名查询学籍记录并逐字段比对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26880" y="1645920"/>
            <a:ext cx="3840480" cy="7315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>
              <a:defRPr sz="1100" b="1">
                <a:solidFill>
                  <a:srgbClr val="F59E0B"/>
                </a:solidFill>
              </a:defRPr>
            </a:pPr>
            <a:r>
              <a:t>证书状态检测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识别结业证书、肄业证书(非正常毕业)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514600"/>
            <a:ext cx="3840480" cy="7315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>
              <a:defRPr sz="1100" b="1">
                <a:solidFill>
                  <a:srgbClr val="F59E0B"/>
                </a:solidFill>
              </a:defRPr>
            </a:pPr>
            <a:r>
              <a:t>毕业年龄检测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本科&lt;20或&gt;30岁标记异常，硕博采用不同年龄范围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2514600"/>
            <a:ext cx="3840480" cy="7315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>
              <a:defRPr sz="1100" b="1">
                <a:solidFill>
                  <a:srgbClr val="F59E0B"/>
                </a:solidFill>
              </a:defRPr>
            </a:pPr>
            <a:r>
              <a:t>院校-专业一致性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正向查找学校是否真实开设该专业(12,697条数据)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0" y="2514600"/>
            <a:ext cx="3840480" cy="7315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>
              <a:defRPr sz="1100" b="1">
                <a:solidFill>
                  <a:srgbClr val="EF4444"/>
                </a:solidFill>
              </a:defRPr>
            </a:pPr>
            <a:r>
              <a:t>ELA图片篡改检测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JPEG压缩误差分析: 检测图片是否经过PS修改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566160"/>
            <a:ext cx="12801600" cy="594360"/>
          </a:xfrm>
          <a:prstGeom prst="roundRect">
            <a:avLst/>
          </a:prstGeom>
          <a:solidFill>
            <a:srgbClr val="A855F7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1F5F9"/>
                </a:solidFill>
              </a:defRPr>
            </a:pPr>
            <a:r>
              <a:t>    模块B: 多材料交叉验证 (跨文件信息对照)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297680"/>
            <a:ext cx="5943600" cy="1051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37083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</a:defRPr>
            </a:pPr>
            <a:r>
              <a:t>双证交叉比对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66344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学位证书 vs 毕业证书，逐字段比对:</a:t>
            </a:r>
            <a:br/>
            <a:r>
              <a:t>姓名 / 学校 / 专业 / 学历层次 / 毕业日期</a:t>
            </a:r>
            <a:br/>
            <a:r>
              <a:t>任一项不一致 -&gt; 标记异常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0" y="4297680"/>
            <a:ext cx="6309360" cy="1051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0" y="4370832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</a:defRPr>
            </a:pPr>
            <a:r>
              <a:t>简历分层交叉验证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4663440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简历提取多段教育经历 -&gt; 按学历层级与对应证书逐段比对</a:t>
            </a:r>
            <a:br/>
            <a:r>
              <a:t>学校(简称/曾用名归一化) + 专业(包含匹配) + 年份(严格匹配)</a:t>
            </a:r>
            <a:br/>
            <a:r>
              <a:t>在读/退学/交换/辅修 -&gt; 自动跳过，不要求证书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5486400"/>
            <a:ext cx="2011680" cy="365760"/>
          </a:xfrm>
          <a:prstGeom prst="roundRect">
            <a:avLst/>
          </a:prstGeom>
          <a:solidFill>
            <a:srgbClr val="06B6D4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1F5F9"/>
                </a:solidFill>
              </a:defRPr>
            </a:pPr>
            <a:r>
              <a:t>ongoing 跳过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0" y="5486400"/>
            <a:ext cx="2011680" cy="365760"/>
          </a:xfrm>
          <a:prstGeom prst="roundRect">
            <a:avLst/>
          </a:prstGeom>
          <a:solidFill>
            <a:srgbClr val="06B6D4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1F5F9"/>
                </a:solidFill>
              </a:defRPr>
            </a:pPr>
            <a:r>
              <a:t>dropout 跳过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0" y="5486400"/>
            <a:ext cx="2011680" cy="365760"/>
          </a:xfrm>
          <a:prstGeom prst="roundRect">
            <a:avLst/>
          </a:prstGeom>
          <a:solidFill>
            <a:srgbClr val="06B6D4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1F5F9"/>
                </a:solidFill>
              </a:defRPr>
            </a:pPr>
            <a:r>
              <a:t>exchange 跳过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0" y="5486400"/>
            <a:ext cx="2011680" cy="365760"/>
          </a:xfrm>
          <a:prstGeom prst="roundRect">
            <a:avLst/>
          </a:prstGeom>
          <a:solidFill>
            <a:srgbClr val="06B6D4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1F5F9"/>
                </a:solidFill>
              </a:defRPr>
            </a:pPr>
            <a:r>
              <a:t>minor 跳过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58400" y="5486400"/>
            <a:ext cx="2011680" cy="365760"/>
          </a:xfrm>
          <a:prstGeom prst="roundRect">
            <a:avLst/>
          </a:prstGeom>
          <a:solidFill>
            <a:srgbClr val="06B6D4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1F5F9"/>
                </a:solidFill>
              </a:defRPr>
            </a:pPr>
            <a:r>
              <a:t>merged 正常验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5989320"/>
            <a:ext cx="12801600" cy="594360"/>
          </a:xfrm>
          <a:prstGeom prst="roundRect">
            <a:avLst/>
          </a:prstGeom>
          <a:solidFill>
            <a:srgbClr val="F59E0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1F5F9"/>
                </a:solidFill>
              </a:defRPr>
            </a:pPr>
            <a:r>
              <a:t>    招聘类型判定差异 (缺证处理)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6720840"/>
            <a:ext cx="12801600" cy="777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88720" y="6812280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B6D4"/>
                </a:solidFill>
              </a:defRPr>
            </a:pPr>
            <a:r>
              <a:t>校招: 有证验真伪 | 缺证=待取证(REVIEW) | 在读=跳过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6812280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B82F6"/>
                </a:solidFill>
              </a:defRPr>
            </a:pPr>
            <a:r>
              <a:t>社招: 有证验真伪 | 缺证=不通过(ALERT) | 在读=不存在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6812280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C4899"/>
                </a:solidFill>
              </a:defRPr>
            </a:pPr>
            <a:r>
              <a:t>实习: 有证验真伪 | 缺证=不通过(ALERT) | 在读=跳过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73152"/>
            <a:ext cx="1463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1F5F9"/>
                </a:solidFill>
              </a:defRPr>
            </a:pPr>
            <a:r>
              <a:t>学历信息 AI 核验系统 -- 判定分流 + 人工核验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12801600" cy="594360"/>
          </a:xfrm>
          <a:prstGeom prst="roundRect">
            <a:avLst/>
          </a:prstGeom>
          <a:solidFill>
            <a:srgbClr val="22C55E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1F5F9"/>
                </a:solidFill>
              </a:defRPr>
            </a:pPr>
            <a:r>
              <a:t>    系统自动判定: 三分流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91640"/>
            <a:ext cx="4023360" cy="2926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691640"/>
            <a:ext cx="4023360" cy="502920"/>
          </a:xfrm>
          <a:prstGeom prst="roundRect">
            <a:avLst/>
          </a:prstGeom>
          <a:solidFill>
            <a:srgbClr val="22C55E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1F5F9"/>
                </a:solidFill>
              </a:defRPr>
            </a:pPr>
            <a:r>
              <a:t>PASS 通过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31720"/>
            <a:ext cx="3657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所有检查均无异常</a:t>
            </a:r>
            <a:br/>
            <a:r>
              <a:t>教育部名单通过</a:t>
            </a:r>
            <a:br/>
            <a:r>
              <a:t>学信库查到且一致</a:t>
            </a:r>
            <a:br/>
            <a:r>
              <a:t>双证比对一致</a:t>
            </a:r>
            <a:br/>
            <a:r>
              <a:t>简历交叉无冲突</a:t>
            </a:r>
            <a:br/>
            <a:r>
              <a:t>ELA无篡改痕迹</a:t>
            </a:r>
            <a:br/>
            <a:r>
              <a:t>年龄/专业正常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9776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C55E"/>
                </a:solidFill>
              </a:defRPr>
            </a:pPr>
            <a:r>
              <a:t>自动进入通过名单</a:t>
            </a:r>
            <a:br/>
            <a:r>
              <a:t>无需HR介入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0" y="1691640"/>
            <a:ext cx="4023360" cy="2926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303520" y="1691640"/>
            <a:ext cx="4023360" cy="502920"/>
          </a:xfrm>
          <a:prstGeom prst="roundRect">
            <a:avLst/>
          </a:prstGeom>
          <a:solidFill>
            <a:srgbClr val="F59E0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1F5F9"/>
                </a:solidFill>
              </a:defRPr>
            </a:pPr>
            <a:r>
              <a:t>REVIEW 需复核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2331720"/>
            <a:ext cx="3657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存在可疑项需要确认</a:t>
            </a:r>
            <a:br/>
            <a:r>
              <a:t>学信库字段不一致</a:t>
            </a:r>
            <a:br/>
            <a:r>
              <a:t>毕业年龄偏大/小</a:t>
            </a:r>
            <a:br/>
            <a:r>
              <a:t>专业未在列表中</a:t>
            </a:r>
            <a:br/>
            <a:r>
              <a:t>ELA轻微异常</a:t>
            </a:r>
            <a:br/>
            <a:r>
              <a:t>双证/简历不一致</a:t>
            </a:r>
            <a:br/>
            <a:r>
              <a:t>校招待取证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39776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</a:defRPr>
            </a:pPr>
            <a:r>
              <a:t>进入人工核验台</a:t>
            </a:r>
            <a:br/>
            <a:r>
              <a:t>HR查看材料后判定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92640" y="1691640"/>
            <a:ext cx="4023360" cy="2926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692640" y="1691640"/>
            <a:ext cx="4023360" cy="502920"/>
          </a:xfrm>
          <a:prstGeom prst="roundRect">
            <a:avLst/>
          </a:prstGeom>
          <a:solidFill>
            <a:srgbClr val="EF4444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1F5F9"/>
                </a:solidFill>
              </a:defRPr>
            </a:pPr>
            <a:r>
              <a:t>ALERT 告警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0" y="2331720"/>
            <a:ext cx="3657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严重异常，优先处理</a:t>
            </a:r>
            <a:br/>
            <a:r>
              <a:t>学校不在教育部名单</a:t>
            </a:r>
            <a:br/>
            <a:r>
              <a:t>学信库查无此人</a:t>
            </a:r>
            <a:br/>
            <a:r>
              <a:t>社招缺证</a:t>
            </a:r>
            <a:br/>
            <a:r>
              <a:t>实习已毕业缺证</a:t>
            </a:r>
            <a:br/>
            <a:r>
              <a:t>ELA明显篡改</a:t>
            </a:r>
            <a:br/>
            <a:r>
              <a:t>证书状态异常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0" y="39776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F4444"/>
                </a:solidFill>
              </a:defRPr>
            </a:pPr>
            <a:r>
              <a:t>进入人工核验台</a:t>
            </a:r>
            <a:br/>
            <a:r>
              <a:t>HR重点核查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2926080" y="4663440"/>
            <a:ext cx="201168" cy="274320"/>
          </a:xfrm>
          <a:prstGeom prst="down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own Arrow 16"/>
          <p:cNvSpPr/>
          <p:nvPr/>
        </p:nvSpPr>
        <p:spPr>
          <a:xfrm>
            <a:off x="7315200" y="4663440"/>
            <a:ext cx="201168" cy="274320"/>
          </a:xfrm>
          <a:prstGeom prst="down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own Arrow 17"/>
          <p:cNvSpPr/>
          <p:nvPr/>
        </p:nvSpPr>
        <p:spPr>
          <a:xfrm>
            <a:off x="11704320" y="4663440"/>
            <a:ext cx="201168" cy="274320"/>
          </a:xfrm>
          <a:prstGeom prst="down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4400" y="4892040"/>
            <a:ext cx="12801600" cy="594360"/>
          </a:xfrm>
          <a:prstGeom prst="roundRect">
            <a:avLst/>
          </a:prstGeom>
          <a:solidFill>
            <a:srgbClr val="F59E0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1F5F9"/>
                </a:solidFill>
              </a:defRPr>
            </a:pPr>
            <a:r>
              <a:t>    人工核验台: HR 最终判定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5623560"/>
            <a:ext cx="12801600" cy="1143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571500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1F5F9"/>
                </a:solidFill>
              </a:defRPr>
            </a:pPr>
            <a:r>
              <a:t>HR操作: 点击候选人 -&gt; 展开查看原始证书图片 + 系统判定原因 -&gt; 做出最终决定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71600" y="6172200"/>
            <a:ext cx="2560320" cy="594360"/>
          </a:xfrm>
          <a:prstGeom prst="roundRect">
            <a:avLst/>
          </a:prstGeom>
          <a:solidFill>
            <a:srgbClr val="22C55E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1F5F9"/>
                </a:solidFill>
              </a:defRPr>
            </a:pPr>
            <a:r>
              <a:t>PASS 通过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0" y="6172200"/>
            <a:ext cx="2560320" cy="594360"/>
          </a:xfrm>
          <a:prstGeom prst="roundRect">
            <a:avLst/>
          </a:prstGeom>
          <a:solidFill>
            <a:srgbClr val="EF4444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1F5F9"/>
                </a:solidFill>
              </a:defRPr>
            </a:pPr>
            <a:r>
              <a:t>FAIL 淘汰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0" y="6172200"/>
            <a:ext cx="2560320" cy="594360"/>
          </a:xfrm>
          <a:prstGeom prst="roundRect">
            <a:avLst/>
          </a:prstGeom>
          <a:solidFill>
            <a:srgbClr val="F59E0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1F5F9"/>
                </a:solidFill>
              </a:defRPr>
            </a:pPr>
            <a:r>
              <a:t>HOLD 待补充材料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6903720"/>
            <a:ext cx="12801600" cy="594360"/>
          </a:xfrm>
          <a:prstGeom prst="roundRect">
            <a:avLst/>
          </a:prstGeom>
          <a:solidFill>
            <a:srgbClr val="3B82F6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1F5F9"/>
                </a:solidFill>
              </a:defRPr>
            </a:pPr>
            <a:r>
              <a:t>    数据看板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7635240"/>
            <a:ext cx="12801600" cy="822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88720" y="7708392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1F5F9"/>
                </a:solidFill>
              </a:defRPr>
            </a:pPr>
            <a:r>
              <a:t>分类标签: 全部候选人 | 通过 | 不通过 | 待定 | 待核验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8046720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内联下拉框修改状态 -&gt; 自动归类 | CSV导出 | 已判定可重新修改 | 招聘类型(校招/社招/实习)标签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73152"/>
            <a:ext cx="1463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1F5F9"/>
                </a:solidFill>
              </a:defRPr>
            </a:pPr>
            <a:r>
              <a:t>各核验环节判定标准明细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777240"/>
            <a:ext cx="2103120" cy="411480"/>
          </a:xfrm>
          <a:prstGeom prst="roundRect">
            <a:avLst/>
          </a:prstGeom>
          <a:solidFill>
            <a:srgbClr val="3B82F6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1F5F9"/>
                </a:solidFill>
              </a:defRPr>
            </a:pPr>
            <a:r>
              <a:t>检查项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06240" y="777240"/>
            <a:ext cx="3566160" cy="411480"/>
          </a:xfrm>
          <a:prstGeom prst="roundRect">
            <a:avLst/>
          </a:prstGeom>
          <a:solidFill>
            <a:srgbClr val="22C55E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1F5F9"/>
                </a:solidFill>
              </a:defRPr>
            </a:pPr>
            <a:r>
              <a:t>PASS 自动通过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66560" y="777240"/>
            <a:ext cx="3566160" cy="411480"/>
          </a:xfrm>
          <a:prstGeom prst="roundRect">
            <a:avLst/>
          </a:prstGeom>
          <a:solidFill>
            <a:srgbClr val="F59E0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1F5F9"/>
                </a:solidFill>
              </a:defRPr>
            </a:pPr>
            <a:r>
              <a:t>REVIEW 需复核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15599" y="777240"/>
            <a:ext cx="3383280" cy="411480"/>
          </a:xfrm>
          <a:prstGeom prst="roundRect">
            <a:avLst/>
          </a:prstGeom>
          <a:solidFill>
            <a:srgbClr val="EF4444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1F5F9"/>
                </a:solidFill>
              </a:defRPr>
            </a:pPr>
            <a:r>
              <a:t>ALERT 高风险告警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2103120" cy="56692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1F5F9"/>
                </a:solidFill>
              </a:defRPr>
            </a:pPr>
            <a:r>
              <a:t>教育部名单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7520" y="1280160"/>
            <a:ext cx="3566160" cy="56692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defRPr sz="900">
                <a:solidFill>
                  <a:srgbClr val="22C55E"/>
                </a:solidFill>
              </a:defRPr>
            </a:pPr>
            <a:r>
              <a:t>学校在名单中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0" y="1280160"/>
            <a:ext cx="3566160" cy="56692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defRPr sz="900">
                <a:solidFill>
                  <a:srgbClr val="F59E0B"/>
                </a:solidFill>
              </a:defRPr>
            </a:pPr>
            <a:r>
              <a:t>--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15600" y="1280160"/>
            <a:ext cx="3383280" cy="56692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defRPr sz="900">
                <a:solidFill>
                  <a:srgbClr val="EF4444"/>
                </a:solidFill>
              </a:defRPr>
            </a:pPr>
            <a:r>
              <a:t>学校不在名单中，直接拒绝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901952"/>
            <a:ext cx="2103120" cy="56692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1F5F9"/>
                </a:solidFill>
              </a:defRPr>
            </a:pPr>
            <a:r>
              <a:t>学信库查询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17520" y="1901952"/>
            <a:ext cx="3566160" cy="56692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defRPr sz="900">
                <a:solidFill>
                  <a:srgbClr val="22C55E"/>
                </a:solidFill>
              </a:defRPr>
            </a:pPr>
            <a:r>
              <a:t>查到记录且字段一致</a:t>
            </a:r>
            <a:br/>
            <a:r>
              <a:t>(姓名/学校/专业/学历/日期)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66560" y="1901952"/>
            <a:ext cx="3566160" cy="56692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defRPr sz="900">
                <a:solidFill>
                  <a:srgbClr val="F59E0B"/>
                </a:solidFill>
              </a:defRPr>
            </a:pPr>
            <a:r>
              <a:t>查到记录但部分字段不一致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515600" y="1901952"/>
            <a:ext cx="3383280" cy="56692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defRPr sz="900">
                <a:solidFill>
                  <a:srgbClr val="EF4444"/>
                </a:solidFill>
              </a:defRPr>
            </a:pPr>
            <a:r>
              <a:t>未查到该学籍记录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523744"/>
            <a:ext cx="2103120" cy="56692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1F5F9"/>
                </a:solidFill>
              </a:defRPr>
            </a:pPr>
            <a:r>
              <a:t>证书状态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17520" y="2523744"/>
            <a:ext cx="3566160" cy="56692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defRPr sz="900">
                <a:solidFill>
                  <a:srgbClr val="22C55E"/>
                </a:solidFill>
              </a:defRPr>
            </a:pPr>
            <a:r>
              <a:t>毕业证书 / 学位证书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66560" y="2523744"/>
            <a:ext cx="3566160" cy="56692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defRPr sz="900">
                <a:solidFill>
                  <a:srgbClr val="F59E0B"/>
                </a:solidFill>
              </a:defRPr>
            </a:pPr>
            <a:r>
              <a:t>结业证书 / 肄业证书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515600" y="2523744"/>
            <a:ext cx="3383280" cy="56692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defRPr sz="900">
                <a:solidFill>
                  <a:srgbClr val="EF4444"/>
                </a:solidFill>
              </a:defRPr>
            </a:pPr>
            <a:r>
              <a:t>--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145536"/>
            <a:ext cx="2103120" cy="56692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1F5F9"/>
                </a:solidFill>
              </a:defRPr>
            </a:pPr>
            <a:r>
              <a:t>毕业年龄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17520" y="3145536"/>
            <a:ext cx="3566160" cy="56692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defRPr sz="900">
                <a:solidFill>
                  <a:srgbClr val="22C55E"/>
                </a:solidFill>
              </a:defRPr>
            </a:pPr>
            <a:r>
              <a:t>年龄在正常范围</a:t>
            </a:r>
            <a:br/>
            <a:r>
              <a:t>本科18-30 硕士22-40 博士24-45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66560" y="3145536"/>
            <a:ext cx="3566160" cy="56692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defRPr sz="900">
                <a:solidFill>
                  <a:srgbClr val="F59E0B"/>
                </a:solidFill>
              </a:defRPr>
            </a:pPr>
            <a:r>
              <a:t>年龄偏大或偏小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515600" y="3145536"/>
            <a:ext cx="3383280" cy="56692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defRPr sz="900">
                <a:solidFill>
                  <a:srgbClr val="EF4444"/>
                </a:solidFill>
              </a:defRPr>
            </a:pPr>
            <a:r>
              <a:t>--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3767328"/>
            <a:ext cx="2103120" cy="56692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1F5F9"/>
                </a:solidFill>
              </a:defRPr>
            </a:pPr>
            <a:r>
              <a:t>院校-专业一致性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017520" y="3767328"/>
            <a:ext cx="3566160" cy="56692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defRPr sz="900">
                <a:solidFill>
                  <a:srgbClr val="22C55E"/>
                </a:solidFill>
              </a:defRPr>
            </a:pPr>
            <a:r>
              <a:t>专业在学校公开列表中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766560" y="3767328"/>
            <a:ext cx="3566160" cy="56692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defRPr sz="900">
                <a:solidFill>
                  <a:srgbClr val="F59E0B"/>
                </a:solidFill>
              </a:defRPr>
            </a:pPr>
            <a:r>
              <a:t>专业未在列表中</a:t>
            </a:r>
            <a:br/>
            <a:r>
              <a:t>(建议人工核实)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515600" y="3767328"/>
            <a:ext cx="3383280" cy="56692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defRPr sz="900">
                <a:solidFill>
                  <a:srgbClr val="EF4444"/>
                </a:solidFill>
              </a:defRPr>
            </a:pPr>
            <a:r>
              <a:t>--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4389120"/>
            <a:ext cx="2103120" cy="56692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1F5F9"/>
                </a:solidFill>
              </a:defRPr>
            </a:pPr>
            <a:r>
              <a:t>ELA图片篡改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17520" y="4389120"/>
            <a:ext cx="3566160" cy="56692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defRPr sz="900">
                <a:solidFill>
                  <a:srgbClr val="22C55E"/>
                </a:solidFill>
              </a:defRPr>
            </a:pPr>
            <a:r>
              <a:t>未检测到篡改痕迹</a:t>
            </a:r>
            <a:br/>
            <a:r>
              <a:t>(风险分 &lt; 0.30)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66560" y="4389120"/>
            <a:ext cx="3566160" cy="56692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defRPr sz="900">
                <a:solidFill>
                  <a:srgbClr val="F59E0B"/>
                </a:solidFill>
              </a:defRPr>
            </a:pPr>
            <a:r>
              <a:t>轻微异常(风险分 0.30-0.40)</a:t>
            </a:r>
            <a:br/>
            <a:r>
              <a:t>可能为翻拍/多次转发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515600" y="4389120"/>
            <a:ext cx="3383280" cy="56692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defRPr sz="900">
                <a:solidFill>
                  <a:srgbClr val="EF4444"/>
                </a:solidFill>
              </a:defRPr>
            </a:pPr>
            <a:r>
              <a:t>明显篡改痕迹(风险分 &gt; 0.40)</a:t>
            </a:r>
            <a:br/>
            <a:r>
              <a:t>疑似P图修改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5010912"/>
            <a:ext cx="2103120" cy="56692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1F5F9"/>
                </a:solidFill>
              </a:defRPr>
            </a:pPr>
            <a:r>
              <a:t>双证交叉比对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017520" y="5010912"/>
            <a:ext cx="3566160" cy="56692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defRPr sz="900">
                <a:solidFill>
                  <a:srgbClr val="22C55E"/>
                </a:solidFill>
              </a:defRPr>
            </a:pPr>
            <a:r>
              <a:t>学位证与毕业证:</a:t>
            </a:r>
            <a:br/>
            <a:r>
              <a:t>姓名/学校/专业/学历/日期均一致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766560" y="5010912"/>
            <a:ext cx="3566160" cy="56692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defRPr sz="900">
                <a:solidFill>
                  <a:srgbClr val="F59E0B"/>
                </a:solidFill>
              </a:defRPr>
            </a:pPr>
            <a:r>
              <a:t>任一项不一致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515600" y="5010912"/>
            <a:ext cx="3383280" cy="56692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defRPr sz="900">
                <a:solidFill>
                  <a:srgbClr val="EF4444"/>
                </a:solidFill>
              </a:defRPr>
            </a:pPr>
            <a:r>
              <a:t>--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5632704"/>
            <a:ext cx="2103120" cy="56692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1F5F9"/>
                </a:solidFill>
              </a:defRPr>
            </a:pPr>
            <a:r>
              <a:t>简历-学校匹配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017520" y="5632704"/>
            <a:ext cx="3566160" cy="56692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defRPr sz="900">
                <a:solidFill>
                  <a:srgbClr val="22C55E"/>
                </a:solidFill>
              </a:defRPr>
            </a:pPr>
            <a:r>
              <a:t>证书学校与简历学校一致</a:t>
            </a:r>
            <a:br/>
            <a:r>
              <a:t>(含曾用名/简称归一化)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766560" y="5632704"/>
            <a:ext cx="3566160" cy="56692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defRPr sz="900">
                <a:solidFill>
                  <a:srgbClr val="F59E0B"/>
                </a:solidFill>
              </a:defRPr>
            </a:pPr>
            <a:r>
              <a:t>不一致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515600" y="5632704"/>
            <a:ext cx="3383280" cy="56692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defRPr sz="900">
                <a:solidFill>
                  <a:srgbClr val="EF4444"/>
                </a:solidFill>
              </a:defRPr>
            </a:pPr>
            <a:r>
              <a:t>--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6254496"/>
            <a:ext cx="2103120" cy="56692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1F5F9"/>
                </a:solidFill>
              </a:defRPr>
            </a:pPr>
            <a:r>
              <a:t>简历-专业匹配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017520" y="6254496"/>
            <a:ext cx="3566160" cy="56692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defRPr sz="900">
                <a:solidFill>
                  <a:srgbClr val="22C55E"/>
                </a:solidFill>
              </a:defRPr>
            </a:pPr>
            <a:r>
              <a:t>专业包含匹配通过</a:t>
            </a:r>
            <a:br/>
            <a:r>
              <a:t>(例: 法学 包含于 民法学)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766560" y="6254496"/>
            <a:ext cx="3566160" cy="56692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defRPr sz="900">
                <a:solidFill>
                  <a:srgbClr val="F59E0B"/>
                </a:solidFill>
              </a:defRPr>
            </a:pPr>
            <a:r>
              <a:t>不匹配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515600" y="6254496"/>
            <a:ext cx="3383280" cy="56692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defRPr sz="900">
                <a:solidFill>
                  <a:srgbClr val="EF4444"/>
                </a:solidFill>
              </a:defRPr>
            </a:pPr>
            <a:r>
              <a:t>--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31520" y="6876288"/>
            <a:ext cx="2103120" cy="56692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1F5F9"/>
                </a:solidFill>
              </a:defRPr>
            </a:pPr>
            <a:r>
              <a:t>简历-年份匹配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017520" y="6876288"/>
            <a:ext cx="3566160" cy="56692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defRPr sz="900">
                <a:solidFill>
                  <a:srgbClr val="22C55E"/>
                </a:solidFill>
              </a:defRPr>
            </a:pPr>
            <a:r>
              <a:t>证书毕业年份 = 简历结束年份</a:t>
            </a:r>
            <a:br/>
            <a:r>
              <a:t>(严格相等)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766560" y="6876288"/>
            <a:ext cx="3566160" cy="56692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defRPr sz="900">
                <a:solidFill>
                  <a:srgbClr val="F59E0B"/>
                </a:solidFill>
              </a:defRPr>
            </a:pPr>
            <a:r>
              <a:t>年份不一致</a:t>
            </a:r>
            <a:br/>
            <a:r>
              <a:t>(可能延期/提前毕业)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515600" y="6876288"/>
            <a:ext cx="3383280" cy="56692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defRPr sz="900">
                <a:solidFill>
                  <a:srgbClr val="EF4444"/>
                </a:solidFill>
              </a:defRPr>
            </a:pPr>
            <a:r>
              <a:t>--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7498080"/>
            <a:ext cx="2103120" cy="56692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1F5F9"/>
                </a:solidFill>
              </a:defRPr>
            </a:pPr>
            <a:r>
              <a:t>简历缺证-校招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017520" y="7498080"/>
            <a:ext cx="3566160" cy="56692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defRPr sz="900">
                <a:solidFill>
                  <a:srgbClr val="22C55E"/>
                </a:solidFill>
              </a:defRPr>
            </a:pPr>
            <a:r>
              <a:t>--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766560" y="7498080"/>
            <a:ext cx="3566160" cy="56692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defRPr sz="900">
                <a:solidFill>
                  <a:srgbClr val="F59E0B"/>
                </a:solidFill>
              </a:defRPr>
            </a:pPr>
            <a:r>
              <a:t>应届待取证: 标记不阻断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515600" y="7498080"/>
            <a:ext cx="3383280" cy="56692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defRPr sz="900">
                <a:solidFill>
                  <a:srgbClr val="EF4444"/>
                </a:solidFill>
              </a:defRPr>
            </a:pPr>
            <a:r>
              <a:t>--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31520" y="8119872"/>
            <a:ext cx="2103120" cy="56692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1F5F9"/>
                </a:solidFill>
              </a:defRPr>
            </a:pPr>
            <a:r>
              <a:t>简历缺证-社招/实习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017520" y="8119872"/>
            <a:ext cx="3566160" cy="56692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defRPr sz="900">
                <a:solidFill>
                  <a:srgbClr val="22C55E"/>
                </a:solidFill>
              </a:defRPr>
            </a:pPr>
            <a:r>
              <a:t>--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766560" y="8119872"/>
            <a:ext cx="3566160" cy="56692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defRPr sz="900">
                <a:solidFill>
                  <a:srgbClr val="F59E0B"/>
                </a:solidFill>
              </a:defRPr>
            </a:pPr>
            <a:r>
              <a:t>--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515600" y="8119872"/>
            <a:ext cx="3383280" cy="56692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defRPr sz="900">
                <a:solidFill>
                  <a:srgbClr val="EF4444"/>
                </a:solidFill>
              </a:defRPr>
            </a:pPr>
            <a:r>
              <a:t>已毕业学历必须有证</a:t>
            </a:r>
            <a:br/>
            <a:r>
              <a:t>缺证即不通过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31520" y="8741664"/>
            <a:ext cx="2103120" cy="56692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1F5F9"/>
                </a:solidFill>
              </a:defRPr>
            </a:pPr>
            <a:r>
              <a:t>简历特殊状态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017520" y="8741664"/>
            <a:ext cx="3566160" cy="56692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defRPr sz="900">
                <a:solidFill>
                  <a:srgbClr val="22C55E"/>
                </a:solidFill>
              </a:defRPr>
            </a:pPr>
            <a:r>
              <a:t>ongoing/dropout/exchange/minor</a:t>
            </a:r>
            <a:br/>
            <a:r>
              <a:t>自动跳过，不要求证书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766560" y="8741664"/>
            <a:ext cx="3566160" cy="56692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defRPr sz="900">
                <a:solidFill>
                  <a:srgbClr val="F59E0B"/>
                </a:solidFill>
              </a:defRPr>
            </a:pPr>
            <a:r>
              <a:t>--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0515600" y="8741664"/>
            <a:ext cx="3383280" cy="56692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defRPr sz="900">
                <a:solidFill>
                  <a:srgbClr val="EF4444"/>
                </a:solidFill>
              </a:defRPr>
            </a:pPr>
            <a:r>
              <a:t>--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31520" y="9363456"/>
            <a:ext cx="2103120" cy="56692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1F5F9"/>
                </a:solidFill>
              </a:defRPr>
            </a:pPr>
            <a:r>
              <a:t>综合判定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017520" y="9363456"/>
            <a:ext cx="3566160" cy="56692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defRPr sz="900">
                <a:solidFill>
                  <a:srgbClr val="22C55E"/>
                </a:solidFill>
              </a:defRPr>
            </a:pPr>
            <a:r>
              <a:t>所有检查均为PASS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766560" y="9363456"/>
            <a:ext cx="3566160" cy="56692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defRPr sz="900">
                <a:solidFill>
                  <a:srgbClr val="F59E0B"/>
                </a:solidFill>
              </a:defRPr>
            </a:pPr>
            <a:r>
              <a:t>存在REVIEW且无ALERT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0515600" y="9363456"/>
            <a:ext cx="3383280" cy="56692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defRPr sz="900">
                <a:solidFill>
                  <a:srgbClr val="EF4444"/>
                </a:solidFill>
              </a:defRPr>
            </a:pPr>
            <a:r>
              <a:t>存在至少一项ALERT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31520" y="10076688"/>
            <a:ext cx="1280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判定优先级: ALERT &gt; REVIEW &gt; PASS | HR在人工核验台查看具体未通过原因后，做出最终判定(通过/淘汰/待补充材料)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