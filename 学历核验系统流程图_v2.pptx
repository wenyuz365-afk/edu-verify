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1463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1F5F9"/>
                </a:solidFill>
              </a:defRPr>
            </a:pPr>
            <a:r>
              <a:t>学历信息AI核验系统 -- 完整流程图 (1/3)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640080"/>
            <a:ext cx="12801600" cy="4572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上传层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188720"/>
            <a:ext cx="1280160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61872"/>
            <a:ext cx="1188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</a:defRPr>
            </a:pPr>
            <a:r>
              <a:t>1. 选择招聘渠道: [校招] 有证验真伪，无证待取证 | [社招] 所有学历必须有证 | [实习] 已毕业缺证=ALERT，在读跳过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1188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</a:defRPr>
            </a:pPr>
            <a:r>
              <a:t>2. 选择上传模式: [单人] 动态添加学历层级(本/硕/博)，每层级2证(学位+毕业) | [批量] ZIP压缩包，子文件夹=候选人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47088"/>
            <a:ext cx="1188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</a:defRPr>
            </a:pPr>
            <a:r>
              <a:t>3. 上传文件: 学位证 + 毕业证(可选:同等学力/海外可不传) + 简历(必传)</a:t>
            </a:r>
          </a:p>
        </p:txBody>
      </p:sp>
      <p:sp>
        <p:nvSpPr>
          <p:cNvPr id="8" name="Down Arrow 7"/>
          <p:cNvSpPr/>
          <p:nvPr/>
        </p:nvSpPr>
        <p:spPr>
          <a:xfrm>
            <a:off x="7223760" y="2286000"/>
            <a:ext cx="164592" cy="201168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560320"/>
            <a:ext cx="12801600" cy="45720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识别层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108960"/>
            <a:ext cx="61264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182112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PaddleOCR 2.6.2: 红色印章去除(HSV) -&gt; 自适应缩放 -&gt; CLAHE增强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456432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双通道OCR(去印章+原图) -&gt; 输出证书/简历全文文本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703320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DeepSeek V4 Pro: 证书提取7个字段 | 简历提取多段教育经历+状态标签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7223760" y="4023360"/>
            <a:ext cx="164592" cy="201168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4297680"/>
            <a:ext cx="12801600" cy="457200"/>
          </a:xfrm>
          <a:prstGeom prst="roundRect">
            <a:avLst/>
          </a:prstGeom>
          <a:solidFill>
            <a:srgbClr val="A855F7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核验层: 模块A -- 单证单项核验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800600"/>
            <a:ext cx="393192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855464"/>
            <a:ext cx="3749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</a:defRPr>
            </a:pPr>
            <a:r>
              <a:t>教育部名单校验 -- 学校是否在教育部名单/海外认证名单中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4800600"/>
            <a:ext cx="393192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4855464"/>
            <a:ext cx="3749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</a:defRPr>
            </a:pPr>
            <a:r>
              <a:t>学信库查询 -- 按身份证/证书编号/姓名查询，比对字段一致性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4800600"/>
            <a:ext cx="393192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4855464"/>
            <a:ext cx="3749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</a:defRPr>
            </a:pPr>
            <a:r>
              <a:t>毕业年龄检测 -- 本&lt;20或&gt;30岁、硕博不同范围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257800"/>
            <a:ext cx="393192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312664"/>
            <a:ext cx="3749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</a:defRPr>
            </a:pPr>
            <a:r>
              <a:t>证书状态检测 -- 识别结业/肄业证书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0" y="5257800"/>
            <a:ext cx="393192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0" y="5312664"/>
            <a:ext cx="3749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</a:defRPr>
            </a:pPr>
            <a:r>
              <a:t>院校-专业一致性 -- 正向查找学校是否真实开设该专业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6880" y="5257800"/>
            <a:ext cx="393192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5312664"/>
            <a:ext cx="3749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</a:defRPr>
            </a:pPr>
            <a:r>
              <a:t>ELA图片篡改检测 -- JPEG压缩误差分析，检测PS痕迹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5715000"/>
            <a:ext cx="12801600" cy="457200"/>
          </a:xfrm>
          <a:prstGeom prst="roundRect">
            <a:avLst/>
          </a:prstGeom>
          <a:solidFill>
            <a:srgbClr val="A855F7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核验层: 模块B -- 多材料交叉验证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6217920"/>
            <a:ext cx="393192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6272784"/>
            <a:ext cx="3749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</a:defRPr>
            </a:pPr>
            <a:r>
              <a:t>双证交叉比对 -- 学位证vs毕业证: 姓名/学校/专业/学历/日期一致性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20640" y="6217920"/>
            <a:ext cx="393192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2080" y="6272784"/>
            <a:ext cx="3749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</a:defRPr>
            </a:pPr>
            <a:r>
              <a:t>简历分层交叉验证 -- 按学历层级逐段比对(学校+专业包含匹配+年份严格)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26880" y="6217920"/>
            <a:ext cx="393192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20" y="6272784"/>
            <a:ext cx="3749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</a:defRPr>
            </a:pPr>
            <a:r>
              <a:t>综合判定 -- 各项检查汇总: PASS / REVIEW / ALERT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681228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招聘类型差异: 校招(缺证=REVIEW) | 社招(缺证=ALERT) | 实习(已毕业缺证=ALERT，在读跳过) | 简历状态: ongoing/dropout/exchange/minor=自动跳过 | 直博=标记不阻断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1463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1F5F9"/>
                </a:solidFill>
              </a:defRPr>
            </a:pPr>
            <a:r>
              <a:t>判定分流层 + 数据看板 (2/3)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640080"/>
            <a:ext cx="12801600" cy="457200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判定分流层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34440"/>
            <a:ext cx="61264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98448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</a:defRPr>
            </a:pPr>
            <a:r>
              <a:t>PASS -- 全部通过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</a:defRPr>
            </a:pPr>
            <a:r>
              <a:t>自动进入通过名单，无需人工介入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条件: 教育部名单通过 + 学信库查到且一致 + 双证比对一致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      + 简历交叉无冲突 + ELA无异常 + 招聘类型要求满足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234440"/>
            <a:ext cx="61264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298448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</a:defRPr>
            </a:pPr>
            <a:r>
              <a:t>ALERT / REVIEW -- 需人工核验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1783080"/>
            <a:ext cx="1463040" cy="411480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PASS 通过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1783080"/>
            <a:ext cx="1463040" cy="41148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FAIL 淘汰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064240" y="1783080"/>
            <a:ext cx="1463040" cy="41148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HOLD 待定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33172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HR展开候选人 -&gt; 查看原始证书图片 + 未通过原因 -&gt; 三选一判定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60604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待核验/已核验两栏分离 | 已判定可重新修改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3977639" y="3291840"/>
            <a:ext cx="164592" cy="201168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10652760" y="3291840"/>
            <a:ext cx="164592" cy="201168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3566160"/>
            <a:ext cx="12801600" cy="4572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数据看板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114800"/>
            <a:ext cx="128016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187952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</a:defRPr>
            </a:pPr>
            <a:r>
              <a:t>全部候选人 | 通过 | 不通过 | 待定 | 待核验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553712"/>
            <a:ext cx="1188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内联下拉框: 直接在表格中修改候选人状态 -&gt; 自动归类到对应分组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846320"/>
            <a:ext cx="1188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CSV导出各分组名单 | 招聘类型标签(校招/社招/实习) | 候选人材料图片归档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138928"/>
            <a:ext cx="1188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数据基础: 588所国内本科 + 191所海外认证高校 + 51条院校曾用名映射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760720"/>
            <a:ext cx="12801600" cy="45720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招聘类型判定差异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6309360"/>
            <a:ext cx="1280160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6382512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</a:defRPr>
            </a:pPr>
            <a:r>
              <a:t>校招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662940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已毕业有证=正常核验 | 缺证=REVIEW待取证 | 在读=跳过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6382512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</a:defRPr>
            </a:pPr>
            <a:r>
              <a:t>社招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662940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已毕业有证=正常核验 | 缺证=ALERT不通过 | 在读=不存在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6382512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</a:defRPr>
            </a:pPr>
            <a:r>
              <a:t>实习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662940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已毕业有证=正常核验 | 缺证=ALERT不通过 | 在读=跳过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1463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1F5F9"/>
                </a:solidFill>
              </a:defRPr>
            </a:pPr>
            <a:r>
              <a:t>各核验环节判定标准 (3/3)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2286000" cy="41148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0467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1F5F9"/>
                </a:solidFill>
              </a:defRPr>
            </a:pPr>
            <a:r>
              <a:t>检查项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731520"/>
            <a:ext cx="3383280" cy="411480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0" y="8046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1F5F9"/>
                </a:solidFill>
              </a:defRPr>
            </a:pPr>
            <a:r>
              <a:t>PASS (自动通过)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731520"/>
            <a:ext cx="3383280" cy="41148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8046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1F5F9"/>
                </a:solidFill>
              </a:defRPr>
            </a:pPr>
            <a:r>
              <a:t>REVIEW (需人工复核)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89920" y="731520"/>
            <a:ext cx="2926080" cy="41148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0" y="804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1F5F9"/>
                </a:solidFill>
              </a:defRPr>
            </a:pPr>
            <a:r>
              <a:t>ALERT (高风险告警)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1234440"/>
            <a:ext cx="228600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3990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5F9"/>
                </a:solidFill>
              </a:defRPr>
            </a:pPr>
            <a:r>
              <a:t>教育部名单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234440"/>
            <a:ext cx="33832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1280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C55E"/>
                </a:solidFill>
              </a:defRPr>
            </a:pPr>
            <a:r>
              <a:t>学校在名单中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1234440"/>
            <a:ext cx="33832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1280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</a:defRPr>
            </a:pPr>
            <a:r>
              <a:t>--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89920" y="1234440"/>
            <a:ext cx="29260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0" y="1280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F4444"/>
                </a:solidFill>
              </a:defRPr>
            </a:pPr>
            <a:r>
              <a:t>学校不在名单中，直接拒绝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1920240"/>
            <a:ext cx="228600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20848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5F9"/>
                </a:solidFill>
              </a:defRPr>
            </a:pPr>
            <a:r>
              <a:t>学信库查询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1920240"/>
            <a:ext cx="33832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60" y="1965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C55E"/>
                </a:solidFill>
              </a:defRPr>
            </a:pPr>
            <a:r>
              <a:t>查到记录且字段一致(姓名/学校/专业/学历/日期)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0" y="1920240"/>
            <a:ext cx="33832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1965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</a:defRPr>
            </a:pPr>
            <a:r>
              <a:t>查到记录但部分字段不一致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789920" y="1920240"/>
            <a:ext cx="29260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81360" y="19659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F4444"/>
                </a:solidFill>
              </a:defRPr>
            </a:pPr>
            <a:r>
              <a:t>未查到该学籍记录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2606040"/>
            <a:ext cx="228600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27706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5F9"/>
                </a:solidFill>
              </a:defRPr>
            </a:pPr>
            <a:r>
              <a:t>证书状态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74720" y="2606040"/>
            <a:ext cx="33832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651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C55E"/>
                </a:solidFill>
              </a:defRPr>
            </a:pPr>
            <a:r>
              <a:t>毕业证书/学位证书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0" y="2606040"/>
            <a:ext cx="33832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2651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</a:defRPr>
            </a:pPr>
            <a:r>
              <a:t>结业/肄业证书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789920" y="2606040"/>
            <a:ext cx="29260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881360" y="26517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F4444"/>
                </a:solidFill>
              </a:defRPr>
            </a:pPr>
            <a:r>
              <a:t>--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3291840"/>
            <a:ext cx="228600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34564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5F9"/>
                </a:solidFill>
              </a:defRPr>
            </a:pPr>
            <a:r>
              <a:t>毕业年龄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74720" y="3291840"/>
            <a:ext cx="33832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66160" y="33375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C55E"/>
                </a:solidFill>
              </a:defRPr>
            </a:pPr>
            <a:r>
              <a:t>年龄在正常范围内</a:t>
            </a:r>
            <a:br/>
            <a:r>
              <a:t>(本科18-30, 硕士22-40, 博士24-45)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0" y="3291840"/>
            <a:ext cx="33832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23760" y="33375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</a:defRPr>
            </a:pPr>
            <a:r>
              <a:t>年龄偏大或偏小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789920" y="3291840"/>
            <a:ext cx="29260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881360" y="33375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F4444"/>
                </a:solidFill>
              </a:defRPr>
            </a:pPr>
            <a:r>
              <a:t>--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4400" y="3977640"/>
            <a:ext cx="228600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" y="41422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5F9"/>
                </a:solidFill>
              </a:defRPr>
            </a:pPr>
            <a:r>
              <a:t>院校-专业一致性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474720" y="3977640"/>
            <a:ext cx="33832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66160" y="4023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C55E"/>
                </a:solidFill>
              </a:defRPr>
            </a:pPr>
            <a:r>
              <a:t>专业在学校公开专业列表中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132320" y="3977640"/>
            <a:ext cx="33832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23760" y="4023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</a:defRPr>
            </a:pPr>
            <a:r>
              <a:t>专业未在列表中(建议人工核实)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789920" y="3977640"/>
            <a:ext cx="29260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881360" y="4023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F4444"/>
                </a:solidFill>
              </a:defRPr>
            </a:pPr>
            <a:r>
              <a:t>--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4400" y="4663440"/>
            <a:ext cx="228600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5840" y="48280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5F9"/>
                </a:solidFill>
              </a:defRPr>
            </a:pPr>
            <a:r>
              <a:t>ELA图片篡改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74720" y="4663440"/>
            <a:ext cx="33832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566160" y="4709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C55E"/>
                </a:solidFill>
              </a:defRPr>
            </a:pPr>
            <a:r>
              <a:t>未检测到篡改痕迹(risk&lt;0.30)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132320" y="4663440"/>
            <a:ext cx="33832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23760" y="4709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</a:defRPr>
            </a:pPr>
            <a:r>
              <a:t>轻微异常(risk 0.30-0.40)，可能为翻拍/转发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789920" y="4663440"/>
            <a:ext cx="29260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881360" y="4709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F4444"/>
                </a:solidFill>
              </a:defRPr>
            </a:pPr>
            <a:r>
              <a:t>明显篡改痕迹(risk&gt;0.40)，疑似P图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14400" y="5349240"/>
            <a:ext cx="228600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40" y="55138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5F9"/>
                </a:solidFill>
              </a:defRPr>
            </a:pPr>
            <a:r>
              <a:t>双证交叉比对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474720" y="5349240"/>
            <a:ext cx="33832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566160" y="5394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C55E"/>
                </a:solidFill>
              </a:defRPr>
            </a:pPr>
            <a:r>
              <a:t>学位证与毕业证: 姓名/学校/专业/学历/日期均一致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132320" y="5349240"/>
            <a:ext cx="33832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223760" y="5394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</a:defRPr>
            </a:pPr>
            <a:r>
              <a:t>任一项不一致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789920" y="5349240"/>
            <a:ext cx="29260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881360" y="53949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F4444"/>
                </a:solidFill>
              </a:defRPr>
            </a:pPr>
            <a:r>
              <a:t>--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14400" y="6035040"/>
            <a:ext cx="228600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05840" y="61996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5F9"/>
                </a:solidFill>
              </a:defRPr>
            </a:pPr>
            <a:r>
              <a:t>简历分层验证(学校)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474720" y="6035040"/>
            <a:ext cx="33832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566160" y="6080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C55E"/>
                </a:solidFill>
              </a:defRPr>
            </a:pPr>
            <a:r>
              <a:t>简历学校与证书学校一致(含曾用名/简称)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132320" y="6035040"/>
            <a:ext cx="33832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223760" y="6080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</a:defRPr>
            </a:pPr>
            <a:r>
              <a:t>不一致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0789920" y="6035040"/>
            <a:ext cx="29260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881360" y="60807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F4444"/>
                </a:solidFill>
              </a:defRPr>
            </a:pPr>
            <a:r>
              <a:t>--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14400" y="6720840"/>
            <a:ext cx="228600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05840" y="68854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5F9"/>
                </a:solidFill>
              </a:defRPr>
            </a:pPr>
            <a:r>
              <a:t>简历分层验证(专业)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474720" y="6720840"/>
            <a:ext cx="33832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566160" y="67665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C55E"/>
                </a:solidFill>
              </a:defRPr>
            </a:pPr>
            <a:r>
              <a:t>专业匹配(包含关系: 法学=民法学)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132320" y="6720840"/>
            <a:ext cx="33832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223760" y="67665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</a:defRPr>
            </a:pPr>
            <a:r>
              <a:t>专业不匹配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789920" y="6720840"/>
            <a:ext cx="29260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881360" y="67665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F4444"/>
                </a:solidFill>
              </a:defRPr>
            </a:pPr>
            <a:r>
              <a:t>--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14400" y="7406640"/>
            <a:ext cx="228600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05840" y="75712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5F9"/>
                </a:solidFill>
              </a:defRPr>
            </a:pPr>
            <a:r>
              <a:t>简历分层验证(年份)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474720" y="7406640"/>
            <a:ext cx="33832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566160" y="7452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C55E"/>
                </a:solidFill>
              </a:defRPr>
            </a:pPr>
            <a:r>
              <a:t>证书毕业年份 = 简历end_year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132320" y="7406640"/>
            <a:ext cx="33832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223760" y="7452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</a:defRPr>
            </a:pPr>
            <a:r>
              <a:t>年份不一致(可能延期/提前毕业)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0789920" y="7406640"/>
            <a:ext cx="29260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881360" y="7452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F4444"/>
                </a:solidFill>
              </a:defRPr>
            </a:pPr>
            <a:r>
              <a:t>--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14400" y="8092440"/>
            <a:ext cx="228600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05840" y="82570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5F9"/>
                </a:solidFill>
              </a:defRPr>
            </a:pPr>
            <a:r>
              <a:t>简历缺证(校招)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474720" y="8092440"/>
            <a:ext cx="33832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566160" y="8138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C55E"/>
                </a:solidFill>
              </a:defRPr>
            </a:pPr>
            <a:r>
              <a:t>--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132320" y="8092440"/>
            <a:ext cx="33832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223760" y="8138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</a:defRPr>
            </a:pPr>
            <a:r>
              <a:t>应届待取证: 标记但不阻断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0789920" y="8092440"/>
            <a:ext cx="29260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881360" y="8138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F4444"/>
                </a:solidFill>
              </a:defRPr>
            </a:pPr>
            <a:r>
              <a:t>--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14400" y="8778240"/>
            <a:ext cx="228600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05840" y="89428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5F9"/>
                </a:solidFill>
              </a:defRPr>
            </a:pPr>
            <a:r>
              <a:t>简历缺证(社招/实习)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3474720" y="8778240"/>
            <a:ext cx="33832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566160" y="8823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C55E"/>
                </a:solidFill>
              </a:defRPr>
            </a:pPr>
            <a:r>
              <a:t>--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7132320" y="8778240"/>
            <a:ext cx="33832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223760" y="8823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</a:defRPr>
            </a:pPr>
            <a:r>
              <a:t>--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0789920" y="8778240"/>
            <a:ext cx="29260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881360" y="88239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F4444"/>
                </a:solidFill>
              </a:defRPr>
            </a:pPr>
            <a:r>
              <a:t>已毕业学历必须有证，缺证=不通过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914400" y="9464040"/>
            <a:ext cx="228600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05840" y="96286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5F9"/>
                </a:solidFill>
              </a:defRPr>
            </a:pPr>
            <a:r>
              <a:t>简历特殊状态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3474720" y="9464040"/>
            <a:ext cx="33832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566160" y="9509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C55E"/>
                </a:solidFill>
              </a:defRPr>
            </a:pPr>
            <a:r>
              <a:t>ongoing(在读)/dropout(退学)/exchange(交换)/minor(辅修) -&gt; 自动跳过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132320" y="9464040"/>
            <a:ext cx="33832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223760" y="9509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</a:defRPr>
            </a:pPr>
            <a:r>
              <a:t>--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10789920" y="9464040"/>
            <a:ext cx="29260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881360" y="95097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F4444"/>
                </a:solidFill>
              </a:defRPr>
            </a:pPr>
            <a:r>
              <a:t>--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914400" y="10149840"/>
            <a:ext cx="228600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005840" y="103144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5F9"/>
                </a:solidFill>
              </a:defRPr>
            </a:pPr>
            <a:r>
              <a:t>综合判定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3474720" y="10149840"/>
            <a:ext cx="33832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566160" y="101955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C55E"/>
                </a:solidFill>
              </a:defRPr>
            </a:pPr>
            <a:r>
              <a:t>所有检查项均PASS，无REVIEW，无ALERT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7132320" y="10149840"/>
            <a:ext cx="33832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223760" y="101955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</a:defRPr>
            </a:pPr>
            <a:r>
              <a:t>存在至少一项REVIEW，且无ALERT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10789920" y="10149840"/>
            <a:ext cx="29260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0881360" y="101955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F4444"/>
                </a:solidFill>
              </a:defRPr>
            </a:pPr>
            <a:r>
              <a:t>存在至少一项ALERT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14400" y="768096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判定优先级: ALERT &gt; REVIEW &gt; PASS | HR在人工核验台查看具体未通过原因后，做出最终判定(通过/淘汰/待定)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