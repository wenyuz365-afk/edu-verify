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E8F0"/>
                </a:solidFill>
              </a:defRPr>
            </a:pPr>
            <a:r>
              <a:t>学历信息 AI 核验系统 -- 操作流程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463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699"/>
                </a:solidFill>
              </a:defRPr>
            </a:pPr>
            <a:r>
              <a:t>面向HR用户 | 三步完成证书真伪核验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2801600" cy="594360"/>
          </a:xfrm>
          <a:prstGeom prst="roundRect">
            <a:avLst/>
          </a:prstGeom>
          <a:solidFill>
            <a:srgbClr val="5D8CC4"/>
          </a:solidFill>
          <a:ln w="19050">
            <a:solidFill>
              <a:srgbClr val="5D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第一步: 选择招聘场景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2801600" cy="9144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</a:defRPr>
            </a:pPr>
            <a:r>
              <a:t>根据招聘类型，系统自动切换核验规则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校  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应届毕业生</a:t>
            </a:r>
            <a:br/>
            <a:r>
              <a:t>有证验真伪，无证标「待取证」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103120"/>
            <a:ext cx="2011680" cy="365760"/>
          </a:xfrm>
          <a:prstGeom prst="roundRect">
            <a:avLst/>
          </a:prstGeom>
          <a:solidFill>
            <a:srgbClr val="5D8CC4"/>
          </a:solidFill>
          <a:ln w="19050">
            <a:solidFill>
              <a:srgbClr val="5D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社  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已毕业候选人</a:t>
            </a:r>
            <a:br/>
            <a:r>
              <a:t>所有学历必须有证书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103120"/>
            <a:ext cx="2011680" cy="365760"/>
          </a:xfrm>
          <a:prstGeom prst="roundRect">
            <a:avLst/>
          </a:prstGeom>
          <a:solidFill>
            <a:srgbClr val="C06A82"/>
          </a:solidFill>
          <a:ln w="19050">
            <a:solidFill>
              <a:srgbClr val="C0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实  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在读学生</a:t>
            </a:r>
            <a:br/>
            <a:r>
              <a:t>已毕业学历必验证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223760" y="2606040"/>
            <a:ext cx="201168" cy="274320"/>
          </a:xfrm>
          <a:prstGeom prst="downArrow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788920"/>
            <a:ext cx="12801600" cy="594360"/>
          </a:xfrm>
          <a:prstGeom prst="roundRect">
            <a:avLst/>
          </a:prstGeom>
          <a:solidFill>
            <a:srgbClr val="5D8CC4"/>
          </a:solidFill>
          <a:ln w="19050">
            <a:solidFill>
              <a:srgbClr val="5D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第二步: 上传材料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20440"/>
            <a:ext cx="12801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5661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</a:defRPr>
            </a:pPr>
            <a:r>
              <a:t>上传模式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93192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单人上传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31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699"/>
                </a:solidFill>
              </a:defRPr>
            </a:pPr>
            <a:r>
              <a:t>动态添加学历层级(本科/硕士/博士)，每层级上传学位证+毕业证(毕业证可选)  |  简历为必传项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38912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批量上传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389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699"/>
                </a:solidFill>
              </a:defRPr>
            </a:pPr>
            <a:r>
              <a:t>上传ZIP压缩包，每个子文件夹对应一位候选人，系统自动按文件名关键词分类学历层次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9204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支持文件格式: JPG / PNG / PDF   |   PDF自动转换为图片   |   证书原件自动存档供人工核验查看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223760" y="5394959"/>
            <a:ext cx="201168" cy="274320"/>
          </a:xfrm>
          <a:prstGeom prst="downArrow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577840"/>
            <a:ext cx="12801600" cy="594360"/>
          </a:xfrm>
          <a:prstGeom prst="roundRect">
            <a:avLst/>
          </a:prstGeom>
          <a:solidFill>
            <a:srgbClr val="5D8CC4"/>
          </a:solidFill>
          <a:ln w="19050">
            <a:solidFill>
              <a:srgbClr val="5D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第三步: 开始核验 (系统自动完成)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309360"/>
            <a:ext cx="12801600" cy="11887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6400800"/>
            <a:ext cx="5943600" cy="100584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A8"/>
                </a:solidFill>
              </a:defRPr>
            </a:pPr>
            <a:r>
              <a:t>OCR 文字识别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720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PaddleOCR 2.6.2 本地引擎</a:t>
            </a:r>
            <a:br/>
            <a:r>
              <a:t>自动去除红色印章干扰 -&gt; 自适应缩放清晰度增强 -&gt; 输出全文文本</a:t>
            </a:r>
            <a:br/>
            <a:r>
              <a:t>证书和简历的图片文字全部提取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6400800"/>
            <a:ext cx="5943600" cy="100584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A8"/>
                </a:solidFill>
              </a:defRPr>
            </a:pPr>
            <a:r>
              <a:t>AI 字段提取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720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DeepSeek V4 Pro 大语言模型</a:t>
            </a:r>
            <a:br/>
            <a:r>
              <a:t>理解证书文字 -&gt; 提取: 姓名/学校/专业/学历/日期/编号等</a:t>
            </a:r>
            <a:br/>
            <a:r>
              <a:t>理解简历文字 -&gt; 提取: 多段教育经历 + 在读/毕业状态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7223760" y="7543800"/>
            <a:ext cx="201168" cy="274320"/>
          </a:xfrm>
          <a:prstGeom prst="downArrow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786384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699"/>
                </a:solidFill>
              </a:defRPr>
            </a:pPr>
            <a:r>
              <a:t>核验结果展示在三步流的结果页: 总览表 + 逐层详情 + 简历交叉验证   |   核验下一个候选人 一键返回上传页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E8F0"/>
                </a:solidFill>
              </a:defRPr>
            </a:pPr>
            <a:r>
              <a:t>学历信息 AI 核验系统 -- 核验引擎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463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699"/>
                </a:solidFill>
              </a:defRPr>
            </a:pPr>
            <a:r>
              <a:t>系统自动完成的全部检查项 | 单证核验 + 交叉验证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2801600" cy="594360"/>
          </a:xfrm>
          <a:prstGeom prst="roundRect">
            <a:avLst/>
          </a:prstGeom>
          <a:solidFill>
            <a:srgbClr val="8A6DC0"/>
          </a:solidFill>
          <a:ln w="19050">
            <a:solidFill>
              <a:srgbClr val="8A6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模块A: 单证单项核验 (每份证书独立进行)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840480" cy="7315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C05555"/>
                </a:solidFill>
              </a:defRPr>
            </a:pPr>
            <a:r>
              <a:t>教育部名单校验</a:t>
            </a:r>
          </a:p>
          <a:p>
            <a:pPr>
              <a:defRPr sz="900">
                <a:solidFill>
                  <a:srgbClr val="7A8699"/>
                </a:solidFill>
              </a:defRPr>
            </a:pPr>
            <a:r>
              <a:t>学校是否在583所国内本科+191所海外认证名单中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3840480" cy="7315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C05555"/>
                </a:solidFill>
              </a:defRPr>
            </a:pPr>
            <a:r>
              <a:t>学信库查询</a:t>
            </a:r>
          </a:p>
          <a:p>
            <a:pPr>
              <a:defRPr sz="900">
                <a:solidFill>
                  <a:srgbClr val="7A8699"/>
                </a:solidFill>
              </a:defRPr>
            </a:pPr>
            <a:r>
              <a:t>按身份证号/证书编号/姓名查询学籍记录并逐字段比对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45920"/>
            <a:ext cx="3840480" cy="7315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C88A42"/>
                </a:solidFill>
              </a:defRPr>
            </a:pPr>
            <a:r>
              <a:t>证书状态检测</a:t>
            </a:r>
          </a:p>
          <a:p>
            <a:pPr>
              <a:defRPr sz="900">
                <a:solidFill>
                  <a:srgbClr val="7A8699"/>
                </a:solidFill>
              </a:defRPr>
            </a:pPr>
            <a:r>
              <a:t>识别结业证书、肄业证书(非正常毕业)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3840480" cy="7315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C88A42"/>
                </a:solidFill>
              </a:defRPr>
            </a:pPr>
            <a:r>
              <a:t>毕业年龄检测</a:t>
            </a:r>
          </a:p>
          <a:p>
            <a:pPr>
              <a:defRPr sz="900">
                <a:solidFill>
                  <a:srgbClr val="7A8699"/>
                </a:solidFill>
              </a:defRPr>
            </a:pPr>
            <a:r>
              <a:t>本科&lt;20或&gt;30岁标记异常，硕博采用不同年龄范围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514600"/>
            <a:ext cx="3840480" cy="7315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C88A42"/>
                </a:solidFill>
              </a:defRPr>
            </a:pPr>
            <a:r>
              <a:t>院校-专业一致性</a:t>
            </a:r>
          </a:p>
          <a:p>
            <a:pPr>
              <a:defRPr sz="900">
                <a:solidFill>
                  <a:srgbClr val="7A8699"/>
                </a:solidFill>
              </a:defRPr>
            </a:pPr>
            <a:r>
              <a:t>正向查找学校是否真实开设该专业(12,697条数据)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514600"/>
            <a:ext cx="3840480" cy="73152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C05555"/>
                </a:solidFill>
              </a:defRPr>
            </a:pPr>
            <a:r>
              <a:t>ELA图片篡改检测</a:t>
            </a:r>
          </a:p>
          <a:p>
            <a:pPr>
              <a:defRPr sz="900">
                <a:solidFill>
                  <a:srgbClr val="7A8699"/>
                </a:solidFill>
              </a:defRPr>
            </a:pPr>
            <a:r>
              <a:t>JPEG压缩误差分析: 检测图片是否经过PS修改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66160"/>
            <a:ext cx="12801600" cy="594360"/>
          </a:xfrm>
          <a:prstGeom prst="roundRect">
            <a:avLst/>
          </a:prstGeom>
          <a:solidFill>
            <a:srgbClr val="8A6DC0"/>
          </a:solidFill>
          <a:ln w="19050">
            <a:solidFill>
              <a:srgbClr val="8A6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模块B: 多材料交叉验证 (跨文件信息对照)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5943600" cy="105156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708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8A42"/>
                </a:solidFill>
              </a:defRPr>
            </a:pPr>
            <a:r>
              <a:t>双证交叉比对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学位证书 vs 毕业证书，逐字段比对:</a:t>
            </a:r>
            <a:br/>
            <a:r>
              <a:t>姓名 / 学校 / 专业 / 学历层次 / 毕业日期</a:t>
            </a:r>
            <a:br/>
            <a:r>
              <a:t>任一项不一致 -&gt; 标记异常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297680"/>
            <a:ext cx="6309360" cy="105156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37083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8A42"/>
                </a:solidFill>
              </a:defRPr>
            </a:pPr>
            <a:r>
              <a:t>简历分层交叉验证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6634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简历提取多段教育经历 -&gt; 按学历层级与对应证书逐段比对</a:t>
            </a:r>
            <a:br/>
            <a:r>
              <a:t>学校(简称/曾用名归一化) + 专业(包含匹配) + 年份(严格匹配)</a:t>
            </a:r>
            <a:br/>
            <a:r>
              <a:t>在读/退学/交换/辅修 -&gt; 自动跳过，不要求证书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ongoing 跳过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48640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dropout 跳过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48640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exchange 跳过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48640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minor 跳过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486400"/>
            <a:ext cx="2011680" cy="365760"/>
          </a:xfrm>
          <a:prstGeom prst="roundRect">
            <a:avLst/>
          </a:prstGeom>
          <a:solidFill>
            <a:srgbClr val="4A9BA8"/>
          </a:solidFill>
          <a:ln w="19050">
            <a:solidFill>
              <a:srgbClr val="4A9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merged 正常验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989320"/>
            <a:ext cx="12801600" cy="594360"/>
          </a:xfrm>
          <a:prstGeom prst="roundRect">
            <a:avLst/>
          </a:prstGeom>
          <a:solidFill>
            <a:srgbClr val="C88A42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招聘类型判定差异 (缺证处理)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720840"/>
            <a:ext cx="12801600" cy="77724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6812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BA8"/>
                </a:solidFill>
              </a:defRPr>
            </a:pPr>
            <a:r>
              <a:t>校招: 有证验真伪 | 缺证=待取证(REVIEW) | 在读=跳过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6812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D8CC4"/>
                </a:solidFill>
              </a:defRPr>
            </a:pPr>
            <a:r>
              <a:t>社招: 有证验真伪 | 缺证=不通过(ALERT) | 在读=不存在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812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6A82"/>
                </a:solidFill>
              </a:defRPr>
            </a:pPr>
            <a:r>
              <a:t>实习: 有证验真伪 | 缺证=不通过(ALERT) | 在读=跳过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E8F0"/>
                </a:solidFill>
              </a:defRPr>
            </a:pPr>
            <a:r>
              <a:t>学历信息 AI 核验系统 -- 判定分流 + 人工核验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2801600" cy="594360"/>
          </a:xfrm>
          <a:prstGeom prst="roundRect">
            <a:avLst/>
          </a:prstGeom>
          <a:solidFill>
            <a:srgbClr val="4A9E6E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系统自动判定: 三分流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4023360" cy="292608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4023360" cy="502920"/>
          </a:xfrm>
          <a:prstGeom prst="roundRect">
            <a:avLst/>
          </a:prstGeom>
          <a:solidFill>
            <a:srgbClr val="4A9E6E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PASS 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所有检查均无异常</a:t>
            </a:r>
            <a:br/>
            <a:r>
              <a:t>教育部名单通过</a:t>
            </a:r>
            <a:br/>
            <a:r>
              <a:t>学信库查到且一致</a:t>
            </a:r>
            <a:br/>
            <a:r>
              <a:t>双证比对一致</a:t>
            </a:r>
            <a:br/>
            <a:r>
              <a:t>简历交叉无冲突</a:t>
            </a:r>
            <a:br/>
            <a:r>
              <a:t>ELA无篡改痕迹</a:t>
            </a:r>
            <a:br/>
            <a:r>
              <a:t>年龄/专业正常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E6E"/>
                </a:solidFill>
              </a:defRPr>
            </a:pPr>
            <a:r>
              <a:t>自动进入通过名单</a:t>
            </a:r>
            <a:br/>
            <a:r>
              <a:t>无需HR介入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91640"/>
            <a:ext cx="4023360" cy="292608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1691640"/>
            <a:ext cx="4023360" cy="502920"/>
          </a:xfrm>
          <a:prstGeom prst="roundRect">
            <a:avLst/>
          </a:prstGeom>
          <a:solidFill>
            <a:srgbClr val="C88A42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REVIEW 需复核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3317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存在可疑项需要确认</a:t>
            </a:r>
            <a:br/>
            <a:r>
              <a:t>学信库字段不一致</a:t>
            </a:r>
            <a:br/>
            <a:r>
              <a:t>毕业年龄偏大/小</a:t>
            </a:r>
            <a:br/>
            <a:r>
              <a:t>专业未在列表中</a:t>
            </a:r>
            <a:br/>
            <a:r>
              <a:t>ELA轻微异常</a:t>
            </a:r>
            <a:br/>
            <a:r>
              <a:t>双证/简历不一致</a:t>
            </a:r>
            <a:br/>
            <a:r>
              <a:t>校招待取证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8A42"/>
                </a:solidFill>
              </a:defRPr>
            </a:pPr>
            <a:r>
              <a:t>进入人工核验台</a:t>
            </a:r>
            <a:br/>
            <a:r>
              <a:t>HR查看材料后判定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691640"/>
            <a:ext cx="4023360" cy="292608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691640"/>
            <a:ext cx="4023360" cy="502920"/>
          </a:xfrm>
          <a:prstGeom prst="roundRect">
            <a:avLst/>
          </a:prstGeom>
          <a:solidFill>
            <a:srgbClr val="C05555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ALERT 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3317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严重异常，优先处理</a:t>
            </a:r>
            <a:br/>
            <a:r>
              <a:t>学校不在教育部名单</a:t>
            </a:r>
            <a:br/>
            <a:r>
              <a:t>学信库查无此人</a:t>
            </a:r>
            <a:br/>
            <a:r>
              <a:t>社招缺证</a:t>
            </a:r>
            <a:br/>
            <a:r>
              <a:t>实习已毕业缺证</a:t>
            </a:r>
            <a:br/>
            <a:r>
              <a:t>ELA明显篡改</a:t>
            </a:r>
            <a:br/>
            <a:r>
              <a:t>证书状态异常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5555"/>
                </a:solidFill>
              </a:defRPr>
            </a:pPr>
            <a:r>
              <a:t>进入人工核验台</a:t>
            </a:r>
            <a:br/>
            <a:r>
              <a:t>HR重点核查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926080" y="4663440"/>
            <a:ext cx="201168" cy="274320"/>
          </a:xfrm>
          <a:prstGeom prst="downArrow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7315200" y="4663440"/>
            <a:ext cx="201168" cy="274320"/>
          </a:xfrm>
          <a:prstGeom prst="downArrow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1704320" y="4663440"/>
            <a:ext cx="201168" cy="274320"/>
          </a:xfrm>
          <a:prstGeom prst="downArrow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2801600" cy="594360"/>
          </a:xfrm>
          <a:prstGeom prst="roundRect">
            <a:avLst/>
          </a:prstGeom>
          <a:solidFill>
            <a:srgbClr val="C88A42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人工核验台: HR 最终判定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2801600" cy="11430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7150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HR操作: 点击候选人 -&gt; 展开查看原始证书图片 + 系统判定原因 -&gt; 做出最终决定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172200"/>
            <a:ext cx="2560320" cy="594360"/>
          </a:xfrm>
          <a:prstGeom prst="roundRect">
            <a:avLst/>
          </a:prstGeom>
          <a:solidFill>
            <a:srgbClr val="4A9E6E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</a:defRPr>
            </a:pPr>
            <a:r>
              <a:t>PASS 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6172200"/>
            <a:ext cx="2560320" cy="594360"/>
          </a:xfrm>
          <a:prstGeom prst="roundRect">
            <a:avLst/>
          </a:prstGeom>
          <a:solidFill>
            <a:srgbClr val="C05555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</a:defRPr>
            </a:pPr>
            <a:r>
              <a:t>FAIL 淘汰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6172200"/>
            <a:ext cx="2560320" cy="594360"/>
          </a:xfrm>
          <a:prstGeom prst="roundRect">
            <a:avLst/>
          </a:prstGeom>
          <a:solidFill>
            <a:srgbClr val="C88A42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</a:defRPr>
            </a:pPr>
            <a:r>
              <a:t>HOLD 待补充材料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903720"/>
            <a:ext cx="12801600" cy="594360"/>
          </a:xfrm>
          <a:prstGeom prst="roundRect">
            <a:avLst/>
          </a:prstGeom>
          <a:solidFill>
            <a:srgbClr val="5D8CC4"/>
          </a:solidFill>
          <a:ln w="19050">
            <a:solidFill>
              <a:srgbClr val="5D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E8F0"/>
                </a:solidFill>
              </a:defRPr>
            </a:pPr>
            <a:r>
              <a:t>    数据看板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7635240"/>
            <a:ext cx="12801600" cy="82296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7708392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分类标签: 全部候选人 | 通过 | 不通过 | 待定 | 待核验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80467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699"/>
                </a:solidFill>
              </a:defRPr>
            </a:pPr>
            <a:r>
              <a:t>内联下拉框修改状态 -&gt; 自动归类 | CSV导出 | 已判定可重新修改 | 招聘类型(校招/社招/实习)标签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E8F0"/>
                </a:solidFill>
              </a:defRPr>
            </a:pPr>
            <a:r>
              <a:t>各核验环节判定标准明细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2103120" cy="411480"/>
          </a:xfrm>
          <a:prstGeom prst="roundRect">
            <a:avLst/>
          </a:prstGeom>
          <a:solidFill>
            <a:srgbClr val="5D8CC4"/>
          </a:solidFill>
          <a:ln w="19050">
            <a:solidFill>
              <a:srgbClr val="5D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检查项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777240"/>
            <a:ext cx="3566160" cy="411480"/>
          </a:xfrm>
          <a:prstGeom prst="roundRect">
            <a:avLst/>
          </a:prstGeom>
          <a:solidFill>
            <a:srgbClr val="4A9E6E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PASS 自动通过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777240"/>
            <a:ext cx="3566160" cy="411480"/>
          </a:xfrm>
          <a:prstGeom prst="roundRect">
            <a:avLst/>
          </a:prstGeom>
          <a:solidFill>
            <a:srgbClr val="C88A42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REVIEW 需复核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599" y="777240"/>
            <a:ext cx="3383280" cy="411480"/>
          </a:xfrm>
          <a:prstGeom prst="roundRect">
            <a:avLst/>
          </a:prstGeom>
          <a:solidFill>
            <a:srgbClr val="C05555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ALERT 高风险告警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教育部名单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280160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学校在名单中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280160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--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0" y="1280160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学校不在名单中，直接拒绝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01952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学信库查询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901952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查到记录且字段一致</a:t>
            </a:r>
            <a:br/>
            <a:r>
              <a:t>(姓名/学校/专业/学历/日期)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901952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查到记录但部分字段不一致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1901952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未查到该学籍记录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23744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证书状态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523744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毕业证书 / 学位证书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523744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结业证书 / 肄业证书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2523744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45536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毕业年龄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145536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年龄在正常范围</a:t>
            </a:r>
            <a:br/>
            <a:r>
              <a:t>本科18-30 硕士22-40 博士24-45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145536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年龄偏大或偏小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3145536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67328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院校-专业一致性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767328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专业在学校公开列表中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767328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专业未在列表中</a:t>
            </a:r>
            <a:br/>
            <a:r>
              <a:t>(建议人工核实)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3767328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89120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ELA图片篡改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389120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未检测到篡改痕迹</a:t>
            </a:r>
            <a:br/>
            <a:r>
              <a:t>(风险分 &lt; 0.30)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389120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轻微异常(风险分 0.30-0.40)</a:t>
            </a:r>
            <a:br/>
            <a:r>
              <a:t>可能为翻拍/多次转发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4389120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明显篡改痕迹(风险分 &gt; 0.40)</a:t>
            </a:r>
            <a:br/>
            <a:r>
              <a:t>疑似P图修改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10912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双证交叉比对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5010912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学位证与毕业证:</a:t>
            </a:r>
            <a:br/>
            <a:r>
              <a:t>姓名/学校/专业/学历/日期均一致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5010912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任一项不一致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5010912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32704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简历-学校匹配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5632704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证书学校与简历学校一致</a:t>
            </a:r>
            <a:br/>
            <a:r>
              <a:t>(含曾用名/简称归一化)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5632704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不一致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5632704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254496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简历-专业匹配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6254496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专业包含匹配通过</a:t>
            </a:r>
            <a:br/>
            <a:r>
              <a:t>(例: 法学 包含于 民法学)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6254496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不匹配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0" y="6254496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6876288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简历-年份匹配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6876288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证书毕业年份 = 简历结束年份</a:t>
            </a:r>
            <a:br/>
            <a:r>
              <a:t>(严格相等)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0" y="6876288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年份不一致</a:t>
            </a:r>
            <a:br/>
            <a:r>
              <a:t>(可能延期/提前毕业)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6876288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7498080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简历缺证-校招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7498080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--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7498080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应届待取证: 标记不阻断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15600" y="7498080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8119872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简历缺证-社招/实习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8119872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--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66560" y="8119872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--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15600" y="8119872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已毕业学历必须有证</a:t>
            </a:r>
            <a:br/>
            <a:r>
              <a:t>缺证即不通过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8741664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简历特殊状态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8741664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ongoing/dropout/exchange/minor</a:t>
            </a:r>
            <a:br/>
            <a:r>
              <a:t>自动跳过，不要求证书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66560" y="8741664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--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15600" y="8741664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--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9363456"/>
            <a:ext cx="210312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综合判定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9363456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4A9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4A9E6E"/>
                </a:solidFill>
              </a:defRPr>
            </a:pPr>
            <a:r>
              <a:t>所有检查均为PASS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66560" y="9363456"/>
            <a:ext cx="356616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8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88A42"/>
                </a:solidFill>
              </a:defRPr>
            </a:pPr>
            <a:r>
              <a:t>存在REVIEW且无ALERT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15600" y="9363456"/>
            <a:ext cx="3383280" cy="566928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C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900">
                <a:solidFill>
                  <a:srgbClr val="C05555"/>
                </a:solidFill>
              </a:defRPr>
            </a:pPr>
            <a:r>
              <a:t>存在至少一项ALERT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76688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699"/>
                </a:solidFill>
              </a:defRPr>
            </a:pPr>
            <a:r>
              <a:t>判定优先级: ALERT &gt; REVIEW &gt; PASS | HR在人工核验台查看具体未通过原因后，做出最终判定(通过/淘汰/待补充材料)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