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71600" y="2377440"/>
            <a:ext cx="1371600" cy="0"/>
          </a:xfrm>
          <a:prstGeom prst="line">
            <a:avLst/>
          </a:prstGeom>
          <a:ln w="381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71600" y="26517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00"/>
              </a:lnSpc>
              <a:defRPr sz="3600" b="1">
                <a:solidFill>
                  <a:srgbClr val="FFFFFF"/>
                </a:solidFill>
              </a:defRPr>
            </a:pPr>
            <a:r>
              <a:t>学历信息 AI 自动核验系统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5BA0CF"/>
                </a:solidFill>
              </a:defRPr>
            </a:pPr>
            <a:r>
              <a:t>AI-Driven Credential Verification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100" b="0">
                <a:solidFill>
                  <a:srgbClr val="8A9AA8"/>
                </a:solidFill>
              </a:defRPr>
            </a:pPr>
            <a:r>
              <a:t>OCR 识别 · LLM 字段提取 · 三层递进核验 · 异常预警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8A9AA8"/>
                </a:solidFill>
              </a:defRPr>
            </a:pPr>
            <a:r>
              <a:t>2026 年 7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目录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97280" y="1554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6FAB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项目背景与目标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5727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3A3A3A"/>
                </a:solidFill>
              </a:defRPr>
            </a:pPr>
            <a:r>
              <a:t>校招学历核验现状 · AI 解决思路 · 项目定位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6FAB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后端技术架构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3500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3A3A3A"/>
                </a:solidFill>
              </a:defRPr>
            </a:pPr>
            <a:r>
              <a:t>三层递进核验引擎 · 预处理管线 · 综合判定逻辑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6FAB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技术栈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1272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3A3A3A"/>
                </a:solidFill>
              </a:defRPr>
            </a:pPr>
            <a:r>
              <a:t>OCR · LLM · 数据库 · 图像处理 · 部署方案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6FAB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前端交互设计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9044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3A3A3A"/>
                </a:solidFill>
              </a:defRPr>
            </a:pPr>
            <a:r>
              <a:t>上传核验 · 人工核验台 · 数据看板 · 工作流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6FAB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关键决策与特殊情况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681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3A3A3A"/>
                </a:solidFill>
              </a:defRPr>
            </a:pPr>
            <a:r>
              <a:t>end_year 判定 · 去重策略 · 阈值校准 · 退学/交换/辅修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40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600" b="1">
                <a:solidFill>
                  <a:srgbClr val="2D6FAB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Demo 演示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5458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3A3A3A"/>
                </a:solidFill>
              </a:defRPr>
            </a:pPr>
            <a:r>
              <a:t>测试场景 · 核验路径 · 预期结果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71600" y="2560320"/>
            <a:ext cx="13716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5BA0CF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3200" b="1">
                <a:solidFill>
                  <a:srgbClr val="FFFFFF"/>
                </a:solidFill>
              </a:defRPr>
            </a:pPr>
            <a: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8A9AA8"/>
                </a:solidFill>
              </a:defRPr>
            </a:pPr>
            <a:r>
              <a:t>校招学历核验的现状与 AI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校招学历核验 — 现状与挑战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校园招聘季，HR 需在短时间内处理数百份候选人材料。学历信息真伪核验是不可或缺的一环，但传统人工方式面临多重困境。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痛点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具体表现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后果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证书格式多样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学位证/毕业证/国外学历/军校/成教，排版各异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人工逐行读取效率极低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批量处理压力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校招季数百份证书需逐一核对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单份耗时 10-15 分钟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信息孤岛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简历、学位证、毕业证信息独立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造假者可利用信息不对称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伪造手段升级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PS 篡改、虚假院校、冒名顶替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肉眼无法识别图片级篡改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缺乏统一工具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现有方案多系统切换，无统一核验平台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流程碎片化，易遗漏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院校知识盲区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HR 难掌握全国院校及专业情况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虚假院校/专业难发现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300" b="1">
                <a:solidFill>
                  <a:srgbClr val="2D6FAB"/>
                </a:solidFill>
              </a:defRPr>
            </a:pPr>
            <a:r>
              <a:t>项目目标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构建 AI 驱动的学历自动验证系统，覆盖证书识别 → 字段提取 → 多维核验 → 异常预警全流程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将 HR 单人核验时间压缩至 30 秒以内，效率提升 20 倍以上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71600" y="2560320"/>
            <a:ext cx="13716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5BA0CF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3200" b="1">
                <a:solidFill>
                  <a:srgbClr val="FFFFFF"/>
                </a:solidFill>
              </a:defRPr>
            </a:pPr>
            <a:r>
              <a:t>后端技术架构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8A9AA8"/>
                </a:solidFill>
              </a:defRPr>
            </a:pPr>
            <a:r>
              <a:t>三层递进核验引擎 · 预处理管线 · 综合判定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系统架构全景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554480"/>
            <a:ext cx="1463040" cy="731520"/>
          </a:xfrm>
          <a:prstGeom prst="round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上传证书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55648" y="1837944"/>
            <a:ext cx="146304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20240" y="1554480"/>
            <a:ext cx="1463040" cy="731520"/>
          </a:xfrm>
          <a:prstGeom prst="round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OCR 识别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01568" y="1837944"/>
            <a:ext cx="146304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1463040" cy="731520"/>
          </a:xfrm>
          <a:prstGeom prst="round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LLM 提取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47488" y="1837944"/>
            <a:ext cx="146304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80" y="1554480"/>
            <a:ext cx="1463040" cy="731520"/>
          </a:xfrm>
          <a:prstGeom prst="roundRect">
            <a:avLst/>
          </a:prstGeom>
          <a:solidFill>
            <a:srgbClr val="0F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L1 篡改检测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93408" y="1837944"/>
            <a:ext cx="146304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0" y="1554480"/>
            <a:ext cx="1463040" cy="731520"/>
          </a:xfrm>
          <a:prstGeom prst="roundRect">
            <a:avLst/>
          </a:prstGeom>
          <a:solidFill>
            <a:srgbClr val="0F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L2 学信库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39328" y="1837944"/>
            <a:ext cx="146304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1554480"/>
            <a:ext cx="1463040" cy="731520"/>
          </a:xfrm>
          <a:prstGeom prst="roundRect">
            <a:avLst/>
          </a:prstGeom>
          <a:solidFill>
            <a:srgbClr val="0F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L3 交叉核验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85248" y="1837944"/>
            <a:ext cx="146304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49840" y="1554480"/>
            <a:ext cx="1463040" cy="731520"/>
          </a:xfrm>
          <a:prstGeom prst="round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判定输出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2D6FAB"/>
                </a:solidFill>
              </a:defRPr>
            </a:pPr>
            <a:r>
              <a:t>三层递进核验引擎（全部执行后综合判定）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0896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5BA0CF"/>
                </a:solidFill>
              </a:defRPr>
            </a:pPr>
            <a:r>
              <a:t>L1: 图片篡改检测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3A3A3A"/>
                </a:solidFill>
              </a:defRPr>
            </a:pPr>
            <a:r>
              <a:t>ELA 分析所有证书图片。high → 异常(高) / medium → 异常(中) / low → 通过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2D6FAB"/>
                </a:solidFill>
              </a:defRPr>
            </a:pPr>
            <a:r>
              <a:t>L2: 学信库核验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3A3A3A"/>
                </a:solidFill>
              </a:defRPr>
            </a:pPr>
            <a:r>
              <a:t>六字段逐一匹配：姓名/学校/专业/学历层级/毕业日期/证书编号。不匹配 → 异常(高) / 未查到 → 异常(中) / 全匹配 → 通过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0F2B45"/>
                </a:solidFill>
              </a:defRPr>
            </a:pPr>
            <a:r>
              <a:t>L3: 交叉核验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0">
                <a:solidFill>
                  <a:srgbClr val="3A3A3A"/>
                </a:solidFill>
              </a:defRPr>
            </a:pPr>
            <a:r>
              <a:t>双证比对 + 简历验证 + 毕业状态判定(end_year)。退学/交换/辅修 → 直接跳过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1">
                <a:solidFill>
                  <a:srgbClr val="2D6FAB"/>
                </a:solidFill>
              </a:defRPr>
            </a:pPr>
            <a:r>
              <a:t>综合判定: 三层全部执行 → 任一高严重度 → REVIEW 高危 / 任一中低异常 → REVIEW 需复核 / 全部通过 → 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预处理管线 — OCR &amp; LLM 字段提取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2D6FAB"/>
                </a:solidFill>
              </a:defRPr>
            </a:pPr>
            <a:r>
              <a:t>OCR 识别管线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2011680" cy="731520"/>
          </a:xfrm>
          <a:prstGeom prst="round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原始输入</a:t>
            </a:r>
            <a:br/>
            <a:r>
              <a:t>(JPG/PNG/PDF)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67712" y="2295144"/>
            <a:ext cx="182880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14600" y="2011680"/>
            <a:ext cx="2011680" cy="731520"/>
          </a:xfrm>
          <a:prstGeom prst="round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PDF→PNG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07992" y="2295144"/>
            <a:ext cx="182880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2011680"/>
            <a:ext cx="2011680" cy="731520"/>
          </a:xfrm>
          <a:prstGeom prst="roundRect">
            <a:avLst/>
          </a:prstGeom>
          <a:solidFill>
            <a:srgbClr val="0F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HSV 印章分离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48272" y="2295144"/>
            <a:ext cx="182880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95160" y="2011680"/>
            <a:ext cx="2011680" cy="731520"/>
          </a:xfrm>
          <a:prstGeom prst="roundRect">
            <a:avLst/>
          </a:prstGeom>
          <a:solidFill>
            <a:srgbClr val="0F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自适应缩放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88552" y="2295144"/>
            <a:ext cx="182880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2011680"/>
            <a:ext cx="2011680" cy="731520"/>
          </a:xfrm>
          <a:prstGeom prst="round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PaddleOCR</a:t>
            </a:r>
            <a:br/>
            <a:r>
              <a:t>文字识别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2D6FAB"/>
                </a:solidFill>
              </a:defRPr>
            </a:pPr>
            <a:r>
              <a:t>LLM 字段提取 — 纯大模型驱动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5661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传统正则方案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LLM 方案（本项目）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通用性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每种证书格式写规则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自然语言理解，零正则，任意排版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中文年份识别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无法识别"二〇二五"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Prompt 内置对照表，LLM 转数字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键名兼容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仅支持英文键名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中英文自动映射（KEY_MAP）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维护成本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新格式需追加正则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调优 Prompt，一次搞定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1">
                <a:solidFill>
                  <a:srgbClr val="2D6FAB"/>
                </a:solidFill>
              </a:defRPr>
            </a:pPr>
            <a:r>
              <a:t>提取字段: 姓名 | 学校 | 专业 | 学历层级 | 毕业日期 | 证书编号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Layer 1 — 图片篡改检测（ELA）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第一层核验，对所有上传证书图片进行 Error Level Analysis 错误级别分析。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原理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JPEG 图片经 PS 修改后，不同区域的压缩错误率不一致。通过分析各区域高频分量差异，识别被篡改区域。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HSV 印章预处理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证书上的红色印章本身会产生高频分量导致误报。先用 HSV 色彩空间分离并移除印章区域，再对剩余内容做 ELA 分析。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阈值经实测校准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真证 0.45 → low · 假证 0.66 → high。阈值设于 high=0.52 / medium=0.46，精准区分。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high 风险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疑似高危篡改 → 标记异常(高)，继续后续核验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medium 风险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图片存在轻微异常 → 标记异常(中)，继续后续核验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low 风险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未检测到明显篡改痕迹 → 通过，继续后续核验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1">
                <a:solidFill>
                  <a:srgbClr val="2D6FAB"/>
                </a:solidFill>
              </a:defRPr>
            </a:pPr>
            <a:r>
              <a:t>无论结果如何，Layer 1 执行完毕后继续 Layer 2，不提前终止。最终三层汇总后综合判定。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Layer 2 — 学信库核验（六字段匹配）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第二层核验，每份证书的 LLM 提取字段与学信库记录逐一比对。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2D6FAB"/>
                </a:solidFill>
              </a:defRPr>
            </a:pPr>
            <a:r>
              <a:t>六字段比对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46888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84048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字段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比对方式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精确匹配，支持曾用名模糊匹配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学校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精确匹配，支持院校曾用名（如"北京钢铁学院"→"北京科技大学"）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专业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精确匹配，支持包含匹配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学历层级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匹配本科/硕士/博士，支持等效映射（学士→本科）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毕业日期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YYYY-MM 标准化后精确匹配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证书编号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OCR 提取编号与学信库记录比对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103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2D6FAB"/>
                </a:solidFill>
              </a:defRPr>
            </a:pPr>
            <a:r>
              <a:t>判定规则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46888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处理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六字段全部一致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通过，继续 Layer 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任一字段不匹配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标记异常(高)，继续 Layer 3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学信库未查到此人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标记异常(中)，继续 Layer 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1">
                <a:solidFill>
                  <a:srgbClr val="2D6FAB"/>
                </a:solidFill>
              </a:defRPr>
            </a:pPr>
            <a:r>
              <a:t>Layer 2 不提前终止。无论匹配结果如何，继续执行 Layer 3。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Layer 3 — 交叉核验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第三层核验，通过前两层的证书在此进行多维度综合交叉验证。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  <a:gridCol w="3017520"/>
                <a:gridCol w="109728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检查项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异常条件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严重度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双证交叉比对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学位证 vs 毕业证：姓名/学校/专业/学历层级/毕业日期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逐字段比对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任一不匹配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简历交叉验证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简历声明 vs 证书提取：学校/专业/年份比对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不一致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毕业状态判定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end_year &lt; 今年：已毕业缺证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end_year == 今年：应届待取证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end_year &gt; 今年：在读正常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end_year 缺失：无法判定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已毕业缺证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应届缺证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在读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无法判定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高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低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PASS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退学/交换/辅修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LLM 提取 status 字段命中则跳过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简历-证书交叉比对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简历有匹配证书时：比对学校/专业/年份一致性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不一致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000" b="1">
                <a:solidFill>
                  <a:srgbClr val="2D6FAB"/>
                </a:solidFill>
              </a:defRPr>
            </a:pPr>
            <a:r>
              <a:t>综合判定: 三层全部检查项汇总 → 任一高严重度 → REVIEW 高危 / 任一中低异常 → REVIEW 需复核 / 全部 PASS → 核验通过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71600" y="2560320"/>
            <a:ext cx="13716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5BA0CF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3200" b="1">
                <a:solidFill>
                  <a:srgbClr val="FFFFFF"/>
                </a:solidFill>
              </a:defRPr>
            </a:pPr>
            <a:r>
              <a:t>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8A9AA8"/>
                </a:solidFill>
              </a:defRPr>
            </a:pPr>
            <a:r>
              <a:t>OCR · LLM · 数据库 · 图像处理 · 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技术栈全览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3200400"/>
                <a:gridCol w="36576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技术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版本/参数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选型原因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OCR引擎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PaddleOCR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2.9.1 (PaddlePaddle 2.6.2)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本地离线识别，零 API 配额，印章去除专项优化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AI模型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DeepSeek V4 Pro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thinking=disabled, max_tokens=4096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Anthropic 兼容接口，纯 LLM 字段提取，零正则规则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UI框架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1.59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Python 全栈，一个月交付周期，三步核验交互流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数据库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SQLite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edu_verify.db (2.4MB)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单机 Demo，零配置，证书编号唯一去重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图像处理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OpenCV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HSV 色彩空间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印章分离、自适应缩放、图像增强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篡改检测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自研 ELA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high=0.52 / med=0.46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Error Level Analysis，经测试集校准阈值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PDF处理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pypdfium2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scale=2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PDF 渲染为 PNG 供 OCR 处理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部署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Docker + ngrok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Python 3.12.9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容器化部署，内网穿透公网演示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71600" y="2560320"/>
            <a:ext cx="13716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5BA0CF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3200" b="1">
                <a:solidFill>
                  <a:srgbClr val="FFFFFF"/>
                </a:solidFill>
              </a:defRPr>
            </a:pPr>
            <a:r>
              <a:t>前端交互设计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8A9AA8"/>
                </a:solidFill>
              </a:defRPr>
            </a:pPr>
            <a:r>
              <a:t>上传核验 · 人工核验台 · 数据看板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上传核验 — 两步交互流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55448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54864"/>
          </a:xfrm>
          <a:prstGeom prst="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Step 1: 材料提交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学位证 + 毕业证 + 简历（均必传）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多学历层次: 本科/硕士/博士 灵活增减（最多 3 层）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上传模式: 单个候选人 或 ZIP 批量导入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AI 自动判定毕业状态，无需 HR 手动选择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03520" cy="54864"/>
          </a:xfrm>
          <a:prstGeom prst="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Step 2: 结果展示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判定总览: PASS/REVIEW 徽章 + 综合结论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三层核验详情: 每层折叠展开，全部检查项可见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通过项和异常项均展示，附带计数统计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证书字段摘要表 + 简历交叉验证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5303520" cy="54864"/>
          </a:xfrm>
          <a:prstGeom prst="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批量核验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0060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ZIP 压缩包上传，自动按文件夹分组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按文件名关键词分类: 学位/毕业/简历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批量结果支持 CSV 导出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06240"/>
            <a:ext cx="53035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206240"/>
            <a:ext cx="5303520" cy="54864"/>
          </a:xfrm>
          <a:prstGeom prst="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证书编号去重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80060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同编号再次核验 → 自动覆盖上一条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数据看板一人一行，不重复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人工核验台 &amp; 数据看板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55448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54864"/>
          </a:xfrm>
          <a:prstGeom prst="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人工核验台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待核验列表: 自动筛选未审核候选人，按严重度排列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问题项明细: 仅显示异常检查项，逐条列出原因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材料查看: 学位证/毕业证/简历原图可展开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HR 判定: 通过/不通过/待定，每次判定需备注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支持回溯修改 + 补充上传材料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03520" cy="54864"/>
          </a:xfrm>
          <a:prstGeom prst="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2D6FAB"/>
                </a:solidFill>
              </a:defRPr>
            </a:pPr>
            <a:r>
              <a:t>数据看板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四大指标卡片: 总人数/通过/不通过/待定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5 个 Tab: 全部/通过/不通过/待定/待核验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在线编辑: data_editor 直接修改判定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按分类 CSV 导出，文件名自动带日期戳</a:t>
            </a:r>
          </a:p>
          <a:p>
            <a:pPr>
              <a:lnSpc>
                <a:spcPts val="1800"/>
              </a:lnSpc>
              <a:defRPr sz="1000">
                <a:solidFill>
                  <a:srgbClr val="3A3A3A"/>
                </a:solidFill>
              </a:defRPr>
            </a:pPr>
            <a:r>
              <a:t>一人一行: 证书编号去重保证不重复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2D6FAB"/>
                </a:solidFill>
              </a:defRPr>
            </a:pPr>
            <a:r>
              <a:t>HR 完整工作流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2011680" cy="640080"/>
          </a:xfrm>
          <a:prstGeom prst="round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批量上传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50592" y="5266944"/>
            <a:ext cx="182880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97480" y="5029200"/>
            <a:ext cx="2011680" cy="640080"/>
          </a:xfrm>
          <a:prstGeom prst="roundRect">
            <a:avLst/>
          </a:prstGeom>
          <a:solidFill>
            <a:srgbClr val="0F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AI 自动核验</a:t>
            </a:r>
            <a:br/>
            <a:r>
              <a:t>(&lt;30秒/人)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90872" y="5266944"/>
            <a:ext cx="182880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37760" y="5029200"/>
            <a:ext cx="2011680" cy="640080"/>
          </a:xfrm>
          <a:prstGeom prst="roundRect">
            <a:avLst/>
          </a:prstGeom>
          <a:solidFill>
            <a:srgbClr val="0F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分级: PASS</a:t>
            </a:r>
            <a:br/>
            <a:r>
              <a:t>或 REVIEW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31152" y="5266944"/>
            <a:ext cx="182880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78040" y="5029200"/>
            <a:ext cx="2011680" cy="640080"/>
          </a:xfrm>
          <a:prstGeom prst="round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人工复核</a:t>
            </a:r>
            <a:br/>
            <a:r>
              <a:t>异常项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171432" y="5266944"/>
            <a:ext cx="182880" cy="164592"/>
          </a:xfrm>
          <a:prstGeom prst="rightArrow">
            <a:avLst/>
          </a:prstGeom>
          <a:solidFill>
            <a:srgbClr val="5BA0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18320" y="5029200"/>
            <a:ext cx="2011680" cy="640080"/>
          </a:xfrm>
          <a:prstGeom prst="roundRect">
            <a:avLst/>
          </a:prstGeom>
          <a:solidFill>
            <a:srgbClr val="2D6F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导出名单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71600" y="2560320"/>
            <a:ext cx="13716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1">
                <a:solidFill>
                  <a:srgbClr val="5BA0CF"/>
                </a:solidFill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3200" b="1">
                <a:solidFill>
                  <a:srgbClr val="FFFFFF"/>
                </a:solidFill>
              </a:defRPr>
            </a:pPr>
            <a:r>
              <a:t>关键决策与特殊情况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0">
                <a:solidFill>
                  <a:srgbClr val="8A9AA8"/>
                </a:solidFill>
              </a:defRPr>
            </a:pPr>
            <a:r>
              <a:t>end_year 判定 · 去重 · 阈值 · 边界处理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6FAB"/>
                </a:solidFill>
              </a:defRPr>
            </a:pPr>
            <a:r>
              <a:t>关键决策与特殊情况处理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51560"/>
            <a:ext cx="18288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  <a:gridCol w="420624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决策点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理由</a:t>
                      </a:r>
                    </a:p>
                  </a:txBody>
                  <a:tcPr anchor="ctr">
                    <a:solidFill>
                      <a:srgbClr val="2D6FAB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毕业状态判定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end_year &lt; 今年→已毕业 / == 今年→应届 / &gt; 今年→在读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退学/交换/辅修: 直接 PASS，不参与判定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替代人工选择招聘类型，减少 HR 操作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缺证判定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已毕业缺证→异常(高) / 应届缺证→异常(低) / 在读缺证→通过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毕业年份是唯一客观标准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证书编号去重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同编号核验 → UPDATE 覆盖旧记录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数据库一人一行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证书编号一对一，天然的 unique key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ELA 阈值校准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high=0.52, med=0.46，经真证/假证实测校准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假证 0.66→high / 真证 0.45→low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避免扫描件印章产生误报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三层全跑策略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L1/L2/L3 全部执行完毕后综合判定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不因单层异常提前终止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HR 需要完整画像，不是分段信息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简历无法提取年份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end_year 缺失或非数字 → REVIEW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提示 HR 手动确认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不能硬猜，宁可转到人工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退学/交换/辅修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LLM 提取 status 字段，命中即跳过核验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不需要证书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这些情况本来就不该有证书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两档判定体系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PASS + REVIEW(高/中/低)</a:t>
                      </a:r>
                    </a:p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替代原 PASS/REVIEW/ALERT 三档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A3A3A"/>
                          </a:solidFill>
                        </a:defRPr>
                      </a:pPr>
                      <a:r>
                        <a:t>REVIEW/ALERT 对 HR 动作相同，合并为严重度区分</a:t>
                      </a:r>
                    </a:p>
                  </a:txBody>
                  <a:tcPr anchor="ctr">
                    <a:solidFill>
                      <a:srgbClr val="E8F2F8"/>
                    </a:solidFill>
                    <a:lnL w="6350" cap="flat">
                      <a:solidFill>
                        <a:srgbClr val="D0D8E0"/>
                      </a:solidFill>
                    </a:lnL>
                    <a:lnR w="6350" cap="flat">
                      <a:solidFill>
                        <a:srgbClr val="D0D8E0"/>
                      </a:solidFill>
                    </a:lnR>
                    <a:lnT w="6350" cap="flat">
                      <a:solidFill>
                        <a:srgbClr val="D0D8E0"/>
                      </a:solidFill>
                    </a:lnT>
                    <a:lnB w="6350" cap="flat">
                      <a:solidFill>
                        <a:srgbClr val="D0D8E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71600" y="731520"/>
            <a:ext cx="1371600" cy="0"/>
          </a:xfrm>
          <a:prstGeom prst="line">
            <a:avLst/>
          </a:prstGeom>
          <a:ln w="25400">
            <a:solidFill>
              <a:srgbClr val="5BA0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37160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defRPr sz="2800" b="1">
                <a:solidFill>
                  <a:srgbClr val="FFFFFF"/>
                </a:solidFill>
              </a:defRPr>
            </a:pPr>
            <a:r>
              <a:t>Demo 演示 &amp;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5BA0CF"/>
                </a:solidFill>
              </a:defRPr>
            </a:pPr>
            <a:r>
              <a:t>演示场景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场景 1: 正常通过 — 真证 + 匹配简历 → 三层全 PASS</a:t>
            </a:r>
          </a:p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场景 2: 图片篡改 — 假证 → L1 异常(高) + L2/L3 同时检测 → 综合 REVIEW</a:t>
            </a:r>
          </a:p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场景 3: 学信库不匹配 — 真证但非学信库人员 → L2 异常 + L3 验证 → REVIEW</a:t>
            </a:r>
          </a:p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场景 4: 批量上传 — ZIP 包含多人 → 自动分组 → 逐人三层核验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5BA0CF"/>
                </a:solidFill>
              </a:defRPr>
            </a:pPr>
            <a:r>
              <a:t>技术成果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完整的 OCR → LLM → 三层核验 → 判定输出全流程闭环</a:t>
            </a:r>
          </a:p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583 国内 + 191 海外院校白名单</a:t>
            </a:r>
          </a:p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end_year 自动判定毕业状态，零人工输入</a:t>
            </a:r>
          </a:p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证书编号唯一去重，自动覆盖</a:t>
            </a:r>
          </a:p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20+ 轮迭代，环境/OCR/AI/数据/逻辑/UI 全覆盖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5BA0CF"/>
                </a:solidFill>
              </a:defRPr>
            </a:pPr>
            <a:r>
              <a:t>后续方向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接入学信网官方 API，实现权威数据源实时查询</a:t>
            </a:r>
          </a:p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接入教育部留学服务中心认证接口</a:t>
            </a:r>
          </a:p>
          <a:p>
            <a:pPr>
              <a:lnSpc>
                <a:spcPts val="1800"/>
              </a:lnSpc>
              <a:defRPr sz="1000">
                <a:solidFill>
                  <a:srgbClr val="FFFFFF"/>
                </a:solidFill>
              </a:defRPr>
            </a:pPr>
            <a:r>
              <a:t>企业 SSO 集成，嵌入招聘审批流程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5760720"/>
            <a:ext cx="9144000" cy="0"/>
          </a:xfrm>
          <a:prstGeom prst="line">
            <a:avLst/>
          </a:prstGeom>
          <a:ln w="12700">
            <a:solidFill>
              <a:srgbClr val="8A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716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900" b="0">
                <a:solidFill>
                  <a:srgbClr val="8A9AA8"/>
                </a:solidFill>
              </a:defRPr>
            </a:pPr>
            <a:r>
              <a:t>Python 3.12 · PaddleOCR 2.6 · DeepSeek V4 Pro · Streamlit 1.59 · SQLite ·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800" b="0">
                <a:solidFill>
                  <a:srgbClr val="8A9AA8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